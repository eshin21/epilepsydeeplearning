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6" r:id="rId1"/>
  </p:sldMasterIdLst>
  <p:notesMasterIdLst>
    <p:notesMasterId r:id="rId19"/>
  </p:notesMasterIdLst>
  <p:sldIdLst>
    <p:sldId id="256" r:id="rId2"/>
    <p:sldId id="299" r:id="rId3"/>
    <p:sldId id="304" r:id="rId4"/>
    <p:sldId id="263" r:id="rId5"/>
    <p:sldId id="309" r:id="rId6"/>
    <p:sldId id="277" r:id="rId7"/>
    <p:sldId id="298" r:id="rId8"/>
    <p:sldId id="308" r:id="rId9"/>
    <p:sldId id="305" r:id="rId10"/>
    <p:sldId id="278" r:id="rId11"/>
    <p:sldId id="310" r:id="rId12"/>
    <p:sldId id="311" r:id="rId13"/>
    <p:sldId id="285" r:id="rId14"/>
    <p:sldId id="307" r:id="rId15"/>
    <p:sldId id="306" r:id="rId16"/>
    <p:sldId id="288" r:id="rId17"/>
    <p:sldId id="31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5F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F859B1-FF48-EF48-8911-6B9153A704FB}" v="52" dt="2026-04-27T19:55:11.2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61"/>
    <p:restoredTop sz="82740"/>
  </p:normalViewPr>
  <p:slideViewPr>
    <p:cSldViewPr snapToGrid="0">
      <p:cViewPr>
        <p:scale>
          <a:sx n="72" d="100"/>
          <a:sy n="72" d="100"/>
        </p:scale>
        <p:origin x="304"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och Shin" userId="c39a6cce-38ff-4294-b6f2-b2b8f4cccef0" providerId="ADAL" clId="{EFE24D46-2511-5DA4-B14A-5403E002676C}"/>
    <pc:docChg chg="undo custSel addSld delSld modSld sldOrd">
      <pc:chgData name="Enoch Shin" userId="c39a6cce-38ff-4294-b6f2-b2b8f4cccef0" providerId="ADAL" clId="{EFE24D46-2511-5DA4-B14A-5403E002676C}" dt="2026-04-27T19:55:11.264" v="1820"/>
      <pc:docMkLst>
        <pc:docMk/>
      </pc:docMkLst>
      <pc:sldChg chg="modSp mod">
        <pc:chgData name="Enoch Shin" userId="c39a6cce-38ff-4294-b6f2-b2b8f4cccef0" providerId="ADAL" clId="{EFE24D46-2511-5DA4-B14A-5403E002676C}" dt="2026-04-27T19:49:21.455" v="1717" actId="207"/>
        <pc:sldMkLst>
          <pc:docMk/>
          <pc:sldMk cId="2360785336" sldId="256"/>
        </pc:sldMkLst>
        <pc:spChg chg="mod">
          <ac:chgData name="Enoch Shin" userId="c39a6cce-38ff-4294-b6f2-b2b8f4cccef0" providerId="ADAL" clId="{EFE24D46-2511-5DA4-B14A-5403E002676C}" dt="2026-04-27T19:49:21.455" v="1717" actId="207"/>
          <ac:spMkLst>
            <pc:docMk/>
            <pc:sldMk cId="2360785336" sldId="256"/>
            <ac:spMk id="3" creationId="{80176A87-D84C-E30A-DC74-6C537B820CA3}"/>
          </ac:spMkLst>
        </pc:spChg>
      </pc:sldChg>
      <pc:sldChg chg="modSp mod">
        <pc:chgData name="Enoch Shin" userId="c39a6cce-38ff-4294-b6f2-b2b8f4cccef0" providerId="ADAL" clId="{EFE24D46-2511-5DA4-B14A-5403E002676C}" dt="2026-04-27T19:51:27.203" v="1764" actId="114"/>
        <pc:sldMkLst>
          <pc:docMk/>
          <pc:sldMk cId="1686003966" sldId="263"/>
        </pc:sldMkLst>
        <pc:spChg chg="mod">
          <ac:chgData name="Enoch Shin" userId="c39a6cce-38ff-4294-b6f2-b2b8f4cccef0" providerId="ADAL" clId="{EFE24D46-2511-5DA4-B14A-5403E002676C}" dt="2026-04-27T19:51:27.203" v="1764" actId="114"/>
          <ac:spMkLst>
            <pc:docMk/>
            <pc:sldMk cId="1686003966" sldId="263"/>
            <ac:spMk id="3" creationId="{7B696EE4-429D-F413-7A3F-AE698B1C4B37}"/>
          </ac:spMkLst>
        </pc:spChg>
      </pc:sldChg>
      <pc:sldChg chg="modSp del mod">
        <pc:chgData name="Enoch Shin" userId="c39a6cce-38ff-4294-b6f2-b2b8f4cccef0" providerId="ADAL" clId="{EFE24D46-2511-5DA4-B14A-5403E002676C}" dt="2026-04-27T19:35:47.307" v="1304" actId="2696"/>
        <pc:sldMkLst>
          <pc:docMk/>
          <pc:sldMk cId="2736603610" sldId="275"/>
        </pc:sldMkLst>
        <pc:spChg chg="mod">
          <ac:chgData name="Enoch Shin" userId="c39a6cce-38ff-4294-b6f2-b2b8f4cccef0" providerId="ADAL" clId="{EFE24D46-2511-5DA4-B14A-5403E002676C}" dt="2026-04-27T19:35:18.894" v="1291" actId="1076"/>
          <ac:spMkLst>
            <pc:docMk/>
            <pc:sldMk cId="2736603610" sldId="275"/>
            <ac:spMk id="2" creationId="{F103D429-0790-28FF-4D0E-FCFD54134165}"/>
          </ac:spMkLst>
        </pc:spChg>
        <pc:spChg chg="mod">
          <ac:chgData name="Enoch Shin" userId="c39a6cce-38ff-4294-b6f2-b2b8f4cccef0" providerId="ADAL" clId="{EFE24D46-2511-5DA4-B14A-5403E002676C}" dt="2026-04-27T19:35:15.460" v="1290" actId="20577"/>
          <ac:spMkLst>
            <pc:docMk/>
            <pc:sldMk cId="2736603610" sldId="275"/>
            <ac:spMk id="3" creationId="{70762040-9254-2FCA-5342-F274ECBFDDC1}"/>
          </ac:spMkLst>
        </pc:spChg>
      </pc:sldChg>
      <pc:sldChg chg="setBg">
        <pc:chgData name="Enoch Shin" userId="c39a6cce-38ff-4294-b6f2-b2b8f4cccef0" providerId="ADAL" clId="{EFE24D46-2511-5DA4-B14A-5403E002676C}" dt="2026-04-27T19:53:50.796" v="1818"/>
        <pc:sldMkLst>
          <pc:docMk/>
          <pc:sldMk cId="2120960596" sldId="278"/>
        </pc:sldMkLst>
      </pc:sldChg>
      <pc:sldChg chg="addSp delSp modSp mod modNotesTx">
        <pc:chgData name="Enoch Shin" userId="c39a6cce-38ff-4294-b6f2-b2b8f4cccef0" providerId="ADAL" clId="{EFE24D46-2511-5DA4-B14A-5403E002676C}" dt="2026-04-27T19:30:54.292" v="879" actId="1076"/>
        <pc:sldMkLst>
          <pc:docMk/>
          <pc:sldMk cId="1225510391" sldId="288"/>
        </pc:sldMkLst>
        <pc:spChg chg="mod">
          <ac:chgData name="Enoch Shin" userId="c39a6cce-38ff-4294-b6f2-b2b8f4cccef0" providerId="ADAL" clId="{EFE24D46-2511-5DA4-B14A-5403E002676C}" dt="2026-04-27T19:14:29.213" v="650" actId="20577"/>
          <ac:spMkLst>
            <pc:docMk/>
            <pc:sldMk cId="1225510391" sldId="288"/>
            <ac:spMk id="2" creationId="{93BA0621-7D01-3D9C-9FBD-76124A0535FB}"/>
          </ac:spMkLst>
        </pc:spChg>
        <pc:spChg chg="add del mod">
          <ac:chgData name="Enoch Shin" userId="c39a6cce-38ff-4294-b6f2-b2b8f4cccef0" providerId="ADAL" clId="{EFE24D46-2511-5DA4-B14A-5403E002676C}" dt="2026-04-27T19:23:26.960" v="871" actId="478"/>
          <ac:spMkLst>
            <pc:docMk/>
            <pc:sldMk cId="1225510391" sldId="288"/>
            <ac:spMk id="14" creationId="{6EB46B36-88EC-47A5-9121-553FCBCEA5D4}"/>
          </ac:spMkLst>
        </pc:spChg>
        <pc:picChg chg="add mod modCrop">
          <ac:chgData name="Enoch Shin" userId="c39a6cce-38ff-4294-b6f2-b2b8f4cccef0" providerId="ADAL" clId="{EFE24D46-2511-5DA4-B14A-5403E002676C}" dt="2026-04-27T19:30:54.292" v="879" actId="1076"/>
          <ac:picMkLst>
            <pc:docMk/>
            <pc:sldMk cId="1225510391" sldId="288"/>
            <ac:picMk id="3" creationId="{CAB8E395-4E4F-0960-CDC7-5478E09D5D45}"/>
          </ac:picMkLst>
        </pc:picChg>
        <pc:picChg chg="add mod modCrop">
          <ac:chgData name="Enoch Shin" userId="c39a6cce-38ff-4294-b6f2-b2b8f4cccef0" providerId="ADAL" clId="{EFE24D46-2511-5DA4-B14A-5403E002676C}" dt="2026-04-27T19:28:22.074" v="872" actId="1076"/>
          <ac:picMkLst>
            <pc:docMk/>
            <pc:sldMk cId="1225510391" sldId="288"/>
            <ac:picMk id="4" creationId="{71D082F4-BF2F-7457-FA4B-08505C7EA210}"/>
          </ac:picMkLst>
        </pc:picChg>
        <pc:picChg chg="del mod">
          <ac:chgData name="Enoch Shin" userId="c39a6cce-38ff-4294-b6f2-b2b8f4cccef0" providerId="ADAL" clId="{EFE24D46-2511-5DA4-B14A-5403E002676C}" dt="2026-04-27T19:14:30.525" v="652" actId="478"/>
          <ac:picMkLst>
            <pc:docMk/>
            <pc:sldMk cId="1225510391" sldId="288"/>
            <ac:picMk id="5" creationId="{569108FF-44E1-68AB-AAFB-BD969BF1DA4D}"/>
          </ac:picMkLst>
        </pc:picChg>
        <pc:picChg chg="add del mod">
          <ac:chgData name="Enoch Shin" userId="c39a6cce-38ff-4294-b6f2-b2b8f4cccef0" providerId="ADAL" clId="{EFE24D46-2511-5DA4-B14A-5403E002676C}" dt="2026-04-27T19:19:57.843" v="841" actId="478"/>
          <ac:picMkLst>
            <pc:docMk/>
            <pc:sldMk cId="1225510391" sldId="288"/>
            <ac:picMk id="6" creationId="{68A6B243-742C-4BCE-28E8-B1156651C1C8}"/>
          </ac:picMkLst>
        </pc:picChg>
        <pc:picChg chg="add del mod">
          <ac:chgData name="Enoch Shin" userId="c39a6cce-38ff-4294-b6f2-b2b8f4cccef0" providerId="ADAL" clId="{EFE24D46-2511-5DA4-B14A-5403E002676C}" dt="2026-04-27T19:18:44.107" v="819" actId="478"/>
          <ac:picMkLst>
            <pc:docMk/>
            <pc:sldMk cId="1225510391" sldId="288"/>
            <ac:picMk id="2050" creationId="{FBE627E3-A5D3-4078-EC9E-592E387BD022}"/>
          </ac:picMkLst>
        </pc:picChg>
        <pc:inkChg chg="add del">
          <ac:chgData name="Enoch Shin" userId="c39a6cce-38ff-4294-b6f2-b2b8f4cccef0" providerId="ADAL" clId="{EFE24D46-2511-5DA4-B14A-5403E002676C}" dt="2026-04-27T19:22:59.098" v="868" actId="34122"/>
          <ac:inkMkLst>
            <pc:docMk/>
            <pc:sldMk cId="1225510391" sldId="288"/>
            <ac:inkMk id="7" creationId="{467DA5BF-1D30-CC70-95CA-F70B6A89C3B1}"/>
          </ac:inkMkLst>
        </pc:inkChg>
      </pc:sldChg>
      <pc:sldChg chg="addSp delSp modSp mod setBg">
        <pc:chgData name="Enoch Shin" userId="c39a6cce-38ff-4294-b6f2-b2b8f4cccef0" providerId="ADAL" clId="{EFE24D46-2511-5DA4-B14A-5403E002676C}" dt="2026-04-27T19:50:25.766" v="1724"/>
        <pc:sldMkLst>
          <pc:docMk/>
          <pc:sldMk cId="2634110997" sldId="298"/>
        </pc:sldMkLst>
        <pc:picChg chg="add mod">
          <ac:chgData name="Enoch Shin" userId="c39a6cce-38ff-4294-b6f2-b2b8f4cccef0" providerId="ADAL" clId="{EFE24D46-2511-5DA4-B14A-5403E002676C}" dt="2026-04-27T19:50:00.155" v="1723" actId="1076"/>
          <ac:picMkLst>
            <pc:docMk/>
            <pc:sldMk cId="2634110997" sldId="298"/>
            <ac:picMk id="2" creationId="{CF801994-9DCA-ADD7-E37A-47B8475F1A33}"/>
          </ac:picMkLst>
        </pc:picChg>
        <pc:picChg chg="del">
          <ac:chgData name="Enoch Shin" userId="c39a6cce-38ff-4294-b6f2-b2b8f4cccef0" providerId="ADAL" clId="{EFE24D46-2511-5DA4-B14A-5403E002676C}" dt="2026-04-27T19:49:44.563" v="1719" actId="478"/>
          <ac:picMkLst>
            <pc:docMk/>
            <pc:sldMk cId="2634110997" sldId="298"/>
            <ac:picMk id="4" creationId="{16BF2CBD-9212-C0FE-899F-4385F9CB363B}"/>
          </ac:picMkLst>
        </pc:picChg>
      </pc:sldChg>
      <pc:sldChg chg="modSp">
        <pc:chgData name="Enoch Shin" userId="c39a6cce-38ff-4294-b6f2-b2b8f4cccef0" providerId="ADAL" clId="{EFE24D46-2511-5DA4-B14A-5403E002676C}" dt="2026-04-27T19:47:53.071" v="1703" actId="14100"/>
        <pc:sldMkLst>
          <pc:docMk/>
          <pc:sldMk cId="3862204571" sldId="299"/>
        </pc:sldMkLst>
        <pc:picChg chg="mod">
          <ac:chgData name="Enoch Shin" userId="c39a6cce-38ff-4294-b6f2-b2b8f4cccef0" providerId="ADAL" clId="{EFE24D46-2511-5DA4-B14A-5403E002676C}" dt="2026-04-27T19:47:53.071" v="1703" actId="14100"/>
          <ac:picMkLst>
            <pc:docMk/>
            <pc:sldMk cId="3862204571" sldId="299"/>
            <ac:picMk id="1028" creationId="{5307AFAE-D857-9287-F6C4-E7991BB8ABD8}"/>
          </ac:picMkLst>
        </pc:picChg>
      </pc:sldChg>
      <pc:sldChg chg="modSp del mod">
        <pc:chgData name="Enoch Shin" userId="c39a6cce-38ff-4294-b6f2-b2b8f4cccef0" providerId="ADAL" clId="{EFE24D46-2511-5DA4-B14A-5403E002676C}" dt="2026-04-27T18:57:05.296" v="16" actId="2696"/>
        <pc:sldMkLst>
          <pc:docMk/>
          <pc:sldMk cId="786601153" sldId="303"/>
        </pc:sldMkLst>
        <pc:spChg chg="mod">
          <ac:chgData name="Enoch Shin" userId="c39a6cce-38ff-4294-b6f2-b2b8f4cccef0" providerId="ADAL" clId="{EFE24D46-2511-5DA4-B14A-5403E002676C}" dt="2026-04-27T18:56:48.146" v="6" actId="20577"/>
          <ac:spMkLst>
            <pc:docMk/>
            <pc:sldMk cId="786601153" sldId="303"/>
            <ac:spMk id="2" creationId="{7DD79E17-236A-6E63-F8FF-C80AD64F69E0}"/>
          </ac:spMkLst>
        </pc:spChg>
      </pc:sldChg>
      <pc:sldChg chg="modSp mod ord setBg">
        <pc:chgData name="Enoch Shin" userId="c39a6cce-38ff-4294-b6f2-b2b8f4cccef0" providerId="ADAL" clId="{EFE24D46-2511-5DA4-B14A-5403E002676C}" dt="2026-04-27T19:55:11.264" v="1820"/>
        <pc:sldMkLst>
          <pc:docMk/>
          <pc:sldMk cId="3394601628" sldId="305"/>
        </pc:sldMkLst>
        <pc:spChg chg="mod">
          <ac:chgData name="Enoch Shin" userId="c39a6cce-38ff-4294-b6f2-b2b8f4cccef0" providerId="ADAL" clId="{EFE24D46-2511-5DA4-B14A-5403E002676C}" dt="2026-04-27T19:53:24.683" v="1816" actId="113"/>
          <ac:spMkLst>
            <pc:docMk/>
            <pc:sldMk cId="3394601628" sldId="305"/>
            <ac:spMk id="9" creationId="{4853E6AE-7496-D488-61CE-7B6ED6227727}"/>
          </ac:spMkLst>
        </pc:spChg>
      </pc:sldChg>
      <pc:sldChg chg="modSp mod setBg">
        <pc:chgData name="Enoch Shin" userId="c39a6cce-38ff-4294-b6f2-b2b8f4cccef0" providerId="ADAL" clId="{EFE24D46-2511-5DA4-B14A-5403E002676C}" dt="2026-04-27T19:53:44.899" v="1817"/>
        <pc:sldMkLst>
          <pc:docMk/>
          <pc:sldMk cId="2807566719" sldId="307"/>
        </pc:sldMkLst>
        <pc:spChg chg="mod">
          <ac:chgData name="Enoch Shin" userId="c39a6cce-38ff-4294-b6f2-b2b8f4cccef0" providerId="ADAL" clId="{EFE24D46-2511-5DA4-B14A-5403E002676C}" dt="2026-04-27T19:41:41.375" v="1694" actId="20577"/>
          <ac:spMkLst>
            <pc:docMk/>
            <pc:sldMk cId="2807566719" sldId="307"/>
            <ac:spMk id="4" creationId="{6497745E-5C55-AA8E-7E2D-7FC11C596E3F}"/>
          </ac:spMkLst>
        </pc:spChg>
      </pc:sldChg>
      <pc:sldChg chg="modSp mod ord setBg">
        <pc:chgData name="Enoch Shin" userId="c39a6cce-38ff-4294-b6f2-b2b8f4cccef0" providerId="ADAL" clId="{EFE24D46-2511-5DA4-B14A-5403E002676C}" dt="2026-04-27T19:53:10.207" v="1815" actId="20578"/>
        <pc:sldMkLst>
          <pc:docMk/>
          <pc:sldMk cId="2077160234" sldId="308"/>
        </pc:sldMkLst>
        <pc:spChg chg="mod">
          <ac:chgData name="Enoch Shin" userId="c39a6cce-38ff-4294-b6f2-b2b8f4cccef0" providerId="ADAL" clId="{EFE24D46-2511-5DA4-B14A-5403E002676C}" dt="2026-04-27T19:46:15.270" v="1702" actId="20577"/>
          <ac:spMkLst>
            <pc:docMk/>
            <pc:sldMk cId="2077160234" sldId="308"/>
            <ac:spMk id="2" creationId="{9657522E-45AF-95BC-A916-6B8F10218B20}"/>
          </ac:spMkLst>
        </pc:spChg>
      </pc:sldChg>
      <pc:sldChg chg="modSp mod setBg">
        <pc:chgData name="Enoch Shin" userId="c39a6cce-38ff-4294-b6f2-b2b8f4cccef0" providerId="ADAL" clId="{EFE24D46-2511-5DA4-B14A-5403E002676C}" dt="2026-04-27T19:52:55.164" v="1813" actId="20577"/>
        <pc:sldMkLst>
          <pc:docMk/>
          <pc:sldMk cId="3035042897" sldId="309"/>
        </pc:sldMkLst>
        <pc:spChg chg="mod">
          <ac:chgData name="Enoch Shin" userId="c39a6cce-38ff-4294-b6f2-b2b8f4cccef0" providerId="ADAL" clId="{EFE24D46-2511-5DA4-B14A-5403E002676C}" dt="2026-04-27T19:04:21.933" v="192" actId="20577"/>
          <ac:spMkLst>
            <pc:docMk/>
            <pc:sldMk cId="3035042897" sldId="309"/>
            <ac:spMk id="2" creationId="{A1377519-4EB2-5067-7326-7C575948EC8C}"/>
          </ac:spMkLst>
        </pc:spChg>
        <pc:spChg chg="mod">
          <ac:chgData name="Enoch Shin" userId="c39a6cce-38ff-4294-b6f2-b2b8f4cccef0" providerId="ADAL" clId="{EFE24D46-2511-5DA4-B14A-5403E002676C}" dt="2026-04-27T19:52:55.164" v="1813" actId="20577"/>
          <ac:spMkLst>
            <pc:docMk/>
            <pc:sldMk cId="3035042897" sldId="309"/>
            <ac:spMk id="7" creationId="{3D9D4A76-F63B-3371-9F08-22BE3B9B7612}"/>
          </ac:spMkLst>
        </pc:spChg>
        <pc:picChg chg="mod">
          <ac:chgData name="Enoch Shin" userId="c39a6cce-38ff-4294-b6f2-b2b8f4cccef0" providerId="ADAL" clId="{EFE24D46-2511-5DA4-B14A-5403E002676C}" dt="2026-04-27T19:04:47.445" v="236" actId="1076"/>
          <ac:picMkLst>
            <pc:docMk/>
            <pc:sldMk cId="3035042897" sldId="309"/>
            <ac:picMk id="5" creationId="{5A5087AE-5AD0-FE2C-3F25-7C7EEEDB9150}"/>
          </ac:picMkLst>
        </pc:picChg>
      </pc:sldChg>
      <pc:sldChg chg="addSp modSp mod setBg">
        <pc:chgData name="Enoch Shin" userId="c39a6cce-38ff-4294-b6f2-b2b8f4cccef0" providerId="ADAL" clId="{EFE24D46-2511-5DA4-B14A-5403E002676C}" dt="2026-04-27T19:53:50.796" v="1818"/>
        <pc:sldMkLst>
          <pc:docMk/>
          <pc:sldMk cId="1774485577" sldId="310"/>
        </pc:sldMkLst>
        <pc:spChg chg="mod">
          <ac:chgData name="Enoch Shin" userId="c39a6cce-38ff-4294-b6f2-b2b8f4cccef0" providerId="ADAL" clId="{EFE24D46-2511-5DA4-B14A-5403E002676C}" dt="2026-04-27T19:07:34.675" v="287" actId="1076"/>
          <ac:spMkLst>
            <pc:docMk/>
            <pc:sldMk cId="1774485577" sldId="310"/>
            <ac:spMk id="2" creationId="{3D68C637-7452-6E81-2C41-C2C559BB25D8}"/>
          </ac:spMkLst>
        </pc:spChg>
        <pc:spChg chg="add">
          <ac:chgData name="Enoch Shin" userId="c39a6cce-38ff-4294-b6f2-b2b8f4cccef0" providerId="ADAL" clId="{EFE24D46-2511-5DA4-B14A-5403E002676C}" dt="2026-04-27T19:01:19.264" v="32"/>
          <ac:spMkLst>
            <pc:docMk/>
            <pc:sldMk cId="1774485577" sldId="310"/>
            <ac:spMk id="3" creationId="{0A9F4F5A-D3D0-1232-5AF4-E02EBE8951FF}"/>
          </ac:spMkLst>
        </pc:spChg>
        <pc:spChg chg="add">
          <ac:chgData name="Enoch Shin" userId="c39a6cce-38ff-4294-b6f2-b2b8f4cccef0" providerId="ADAL" clId="{EFE24D46-2511-5DA4-B14A-5403E002676C}" dt="2026-04-27T19:01:21.194" v="33"/>
          <ac:spMkLst>
            <pc:docMk/>
            <pc:sldMk cId="1774485577" sldId="310"/>
            <ac:spMk id="4" creationId="{897DD25E-4772-18B7-DF24-896AFCEEA658}"/>
          </ac:spMkLst>
        </pc:spChg>
        <pc:spChg chg="mod">
          <ac:chgData name="Enoch Shin" userId="c39a6cce-38ff-4294-b6f2-b2b8f4cccef0" providerId="ADAL" clId="{EFE24D46-2511-5DA4-B14A-5403E002676C}" dt="2026-04-27T19:07:41.122" v="293" actId="1036"/>
          <ac:spMkLst>
            <pc:docMk/>
            <pc:sldMk cId="1774485577" sldId="310"/>
            <ac:spMk id="9" creationId="{293FD760-BD18-BB13-1AB2-69BA10B529FE}"/>
          </ac:spMkLst>
        </pc:spChg>
      </pc:sldChg>
      <pc:sldChg chg="addSp delSp modSp add mod">
        <pc:chgData name="Enoch Shin" userId="c39a6cce-38ff-4294-b6f2-b2b8f4cccef0" providerId="ADAL" clId="{EFE24D46-2511-5DA4-B14A-5403E002676C}" dt="2026-04-27T19:13:04.180" v="463" actId="1076"/>
        <pc:sldMkLst>
          <pc:docMk/>
          <pc:sldMk cId="2560845069" sldId="311"/>
        </pc:sldMkLst>
        <pc:spChg chg="mod">
          <ac:chgData name="Enoch Shin" userId="c39a6cce-38ff-4294-b6f2-b2b8f4cccef0" providerId="ADAL" clId="{EFE24D46-2511-5DA4-B14A-5403E002676C}" dt="2026-04-27T18:56:54.431" v="12" actId="20577"/>
          <ac:spMkLst>
            <pc:docMk/>
            <pc:sldMk cId="2560845069" sldId="311"/>
            <ac:spMk id="2" creationId="{243854AE-00DA-F028-BC22-254F014BA006}"/>
          </ac:spMkLst>
        </pc:spChg>
        <pc:spChg chg="add mod">
          <ac:chgData name="Enoch Shin" userId="c39a6cce-38ff-4294-b6f2-b2b8f4cccef0" providerId="ADAL" clId="{EFE24D46-2511-5DA4-B14A-5403E002676C}" dt="2026-04-27T19:13:04.180" v="463" actId="1076"/>
          <ac:spMkLst>
            <pc:docMk/>
            <pc:sldMk cId="2560845069" sldId="311"/>
            <ac:spMk id="6" creationId="{11294636-EE96-35A6-7E6C-6381534C69C1}"/>
          </ac:spMkLst>
        </pc:spChg>
        <pc:picChg chg="mod">
          <ac:chgData name="Enoch Shin" userId="c39a6cce-38ff-4294-b6f2-b2b8f4cccef0" providerId="ADAL" clId="{EFE24D46-2511-5DA4-B14A-5403E002676C}" dt="2026-04-27T18:57:36.499" v="31" actId="1076"/>
          <ac:picMkLst>
            <pc:docMk/>
            <pc:sldMk cId="2560845069" sldId="311"/>
            <ac:picMk id="3" creationId="{59904094-760E-E983-E30D-23A1462360CD}"/>
          </ac:picMkLst>
        </pc:picChg>
        <pc:picChg chg="del mod">
          <ac:chgData name="Enoch Shin" userId="c39a6cce-38ff-4294-b6f2-b2b8f4cccef0" providerId="ADAL" clId="{EFE24D46-2511-5DA4-B14A-5403E002676C}" dt="2026-04-27T18:57:25.348" v="24" actId="21"/>
          <ac:picMkLst>
            <pc:docMk/>
            <pc:sldMk cId="2560845069" sldId="311"/>
            <ac:picMk id="4" creationId="{B024DC5D-D2D8-2308-E6F0-2F350D3429C6}"/>
          </ac:picMkLst>
        </pc:picChg>
        <pc:picChg chg="add mod">
          <ac:chgData name="Enoch Shin" userId="c39a6cce-38ff-4294-b6f2-b2b8f4cccef0" providerId="ADAL" clId="{EFE24D46-2511-5DA4-B14A-5403E002676C}" dt="2026-04-27T18:57:34.265" v="30" actId="1076"/>
          <ac:picMkLst>
            <pc:docMk/>
            <pc:sldMk cId="2560845069" sldId="311"/>
            <ac:picMk id="5" creationId="{90BDD98B-F905-FB6D-DC4D-534A0E3DF720}"/>
          </ac:picMkLst>
        </pc:picChg>
      </pc:sldChg>
      <pc:sldChg chg="addSp delSp modSp add mod setBg modNotesTx">
        <pc:chgData name="Enoch Shin" userId="c39a6cce-38ff-4294-b6f2-b2b8f4cccef0" providerId="ADAL" clId="{EFE24D46-2511-5DA4-B14A-5403E002676C}" dt="2026-04-27T19:54:42.281" v="1819"/>
        <pc:sldMkLst>
          <pc:docMk/>
          <pc:sldMk cId="209726840" sldId="312"/>
        </pc:sldMkLst>
        <pc:spChg chg="del">
          <ac:chgData name="Enoch Shin" userId="c39a6cce-38ff-4294-b6f2-b2b8f4cccef0" providerId="ADAL" clId="{EFE24D46-2511-5DA4-B14A-5403E002676C}" dt="2026-04-27T19:35:26.071" v="1293" actId="478"/>
          <ac:spMkLst>
            <pc:docMk/>
            <pc:sldMk cId="209726840" sldId="312"/>
            <ac:spMk id="2" creationId="{5842DA59-04EB-8782-95E9-838FB6928D51}"/>
          </ac:spMkLst>
        </pc:spChg>
        <pc:spChg chg="add mod">
          <ac:chgData name="Enoch Shin" userId="c39a6cce-38ff-4294-b6f2-b2b8f4cccef0" providerId="ADAL" clId="{EFE24D46-2511-5DA4-B14A-5403E002676C}" dt="2026-04-27T19:35:26.071" v="1293" actId="478"/>
          <ac:spMkLst>
            <pc:docMk/>
            <pc:sldMk cId="209726840" sldId="312"/>
            <ac:spMk id="6" creationId="{9AE18D62-A481-45AF-81BB-3843F670E937}"/>
          </ac:spMkLst>
        </pc:spChg>
        <pc:spChg chg="add mod">
          <ac:chgData name="Enoch Shin" userId="c39a6cce-38ff-4294-b6f2-b2b8f4cccef0" providerId="ADAL" clId="{EFE24D46-2511-5DA4-B14A-5403E002676C}" dt="2026-04-27T19:35:32.005" v="1294"/>
          <ac:spMkLst>
            <pc:docMk/>
            <pc:sldMk cId="209726840" sldId="312"/>
            <ac:spMk id="7" creationId="{0F93C1BA-E160-A5F4-2F23-CE0276724FFF}"/>
          </ac:spMkLst>
        </pc:spChg>
        <pc:spChg chg="add mod">
          <ac:chgData name="Enoch Shin" userId="c39a6cce-38ff-4294-b6f2-b2b8f4cccef0" providerId="ADAL" clId="{EFE24D46-2511-5DA4-B14A-5403E002676C}" dt="2026-04-27T19:35:34.825" v="1299"/>
          <ac:spMkLst>
            <pc:docMk/>
            <pc:sldMk cId="209726840" sldId="312"/>
            <ac:spMk id="8" creationId="{FC02E03C-E270-51F1-C38B-4B887EF7366D}"/>
          </ac:spMkLst>
        </pc:spChg>
        <pc:spChg chg="add mod">
          <ac:chgData name="Enoch Shin" userId="c39a6cce-38ff-4294-b6f2-b2b8f4cccef0" providerId="ADAL" clId="{EFE24D46-2511-5DA4-B14A-5403E002676C}" dt="2026-04-27T19:35:32.005" v="1294"/>
          <ac:spMkLst>
            <pc:docMk/>
            <pc:sldMk cId="209726840" sldId="312"/>
            <ac:spMk id="9" creationId="{1F0AC4BB-0FDE-18B5-9F9C-81F2328FAB77}"/>
          </ac:spMkLst>
        </pc:spChg>
        <pc:spChg chg="add mod">
          <ac:chgData name="Enoch Shin" userId="c39a6cce-38ff-4294-b6f2-b2b8f4cccef0" providerId="ADAL" clId="{EFE24D46-2511-5DA4-B14A-5403E002676C}" dt="2026-04-27T19:35:32.005" v="1294"/>
          <ac:spMkLst>
            <pc:docMk/>
            <pc:sldMk cId="209726840" sldId="312"/>
            <ac:spMk id="10" creationId="{9425777C-B282-7CE8-9970-BAE69C28BE9C}"/>
          </ac:spMkLst>
        </pc:spChg>
        <pc:spChg chg="add mod">
          <ac:chgData name="Enoch Shin" userId="c39a6cce-38ff-4294-b6f2-b2b8f4cccef0" providerId="ADAL" clId="{EFE24D46-2511-5DA4-B14A-5403E002676C}" dt="2026-04-27T19:35:34.329" v="1297" actId="767"/>
          <ac:spMkLst>
            <pc:docMk/>
            <pc:sldMk cId="209726840" sldId="312"/>
            <ac:spMk id="11" creationId="{3675DF54-F0C7-9C5F-B520-0ACCC41114D3}"/>
          </ac:spMkLst>
        </pc:spChg>
        <pc:spChg chg="add mod">
          <ac:chgData name="Enoch Shin" userId="c39a6cce-38ff-4294-b6f2-b2b8f4cccef0" providerId="ADAL" clId="{EFE24D46-2511-5DA4-B14A-5403E002676C}" dt="2026-04-27T19:35:45.561" v="1303" actId="1076"/>
          <ac:spMkLst>
            <pc:docMk/>
            <pc:sldMk cId="209726840" sldId="312"/>
            <ac:spMk id="12" creationId="{F64B6237-6963-2FF0-2E0B-A66311716D59}"/>
          </ac:spMkLst>
        </pc:spChg>
        <pc:spChg chg="add mod">
          <ac:chgData name="Enoch Shin" userId="c39a6cce-38ff-4294-b6f2-b2b8f4cccef0" providerId="ADAL" clId="{EFE24D46-2511-5DA4-B14A-5403E002676C}" dt="2026-04-27T19:36:00.841" v="1320" actId="1076"/>
          <ac:spMkLst>
            <pc:docMk/>
            <pc:sldMk cId="209726840" sldId="312"/>
            <ac:spMk id="13" creationId="{A471E82F-2587-8617-05D3-13A7D547D965}"/>
          </ac:spMkLst>
        </pc:spChg>
        <pc:spChg chg="add mod">
          <ac:chgData name="Enoch Shin" userId="c39a6cce-38ff-4294-b6f2-b2b8f4cccef0" providerId="ADAL" clId="{EFE24D46-2511-5DA4-B14A-5403E002676C}" dt="2026-04-27T19:48:53.769" v="1716" actId="20577"/>
          <ac:spMkLst>
            <pc:docMk/>
            <pc:sldMk cId="209726840" sldId="312"/>
            <ac:spMk id="14" creationId="{47DCF28A-B93F-8E87-7A15-0AF6574F6680}"/>
          </ac:spMkLst>
        </pc:spChg>
        <pc:picChg chg="del">
          <ac:chgData name="Enoch Shin" userId="c39a6cce-38ff-4294-b6f2-b2b8f4cccef0" providerId="ADAL" clId="{EFE24D46-2511-5DA4-B14A-5403E002676C}" dt="2026-04-27T19:35:26.071" v="1293" actId="478"/>
          <ac:picMkLst>
            <pc:docMk/>
            <pc:sldMk cId="209726840" sldId="312"/>
            <ac:picMk id="3" creationId="{4FDD897E-281C-A26B-2764-08E01A899FEF}"/>
          </ac:picMkLst>
        </pc:picChg>
        <pc:picChg chg="del">
          <ac:chgData name="Enoch Shin" userId="c39a6cce-38ff-4294-b6f2-b2b8f4cccef0" providerId="ADAL" clId="{EFE24D46-2511-5DA4-B14A-5403E002676C}" dt="2026-04-27T19:35:26.071" v="1293" actId="478"/>
          <ac:picMkLst>
            <pc:docMk/>
            <pc:sldMk cId="209726840" sldId="312"/>
            <ac:picMk id="4" creationId="{79E76FC6-C172-6829-9718-4D259EFFEE1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3C5CF5-2F08-B740-9061-51D0631E3765}"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EE75B-EF0F-E245-A34A-06675D448390}" type="slidenum">
              <a:rPr lang="en-US" smtClean="0"/>
              <a:t>‹#›</a:t>
            </a:fld>
            <a:endParaRPr lang="en-US"/>
          </a:p>
        </p:txBody>
      </p:sp>
    </p:spTree>
    <p:extLst>
      <p:ext uri="{BB962C8B-B14F-4D97-AF65-F5344CB8AC3E}">
        <p14:creationId xmlns:p14="http://schemas.microsoft.com/office/powerpoint/2010/main" val="1051888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www.sciencedirect.com</a:t>
            </a:r>
            <a:r>
              <a:rPr lang="en-US"/>
              <a:t>/science/article/</a:t>
            </a:r>
            <a:r>
              <a:rPr lang="en-US" err="1"/>
              <a:t>pii</a:t>
            </a:r>
            <a:r>
              <a:rPr lang="en-US"/>
              <a:t>/S0969996122000390</a:t>
            </a:r>
          </a:p>
        </p:txBody>
      </p:sp>
      <p:sp>
        <p:nvSpPr>
          <p:cNvPr id="4" name="Slide Number Placeholder 3"/>
          <p:cNvSpPr>
            <a:spLocks noGrp="1"/>
          </p:cNvSpPr>
          <p:nvPr>
            <p:ph type="sldNum" sz="quarter" idx="5"/>
          </p:nvPr>
        </p:nvSpPr>
        <p:spPr/>
        <p:txBody>
          <a:bodyPr/>
          <a:lstStyle/>
          <a:p>
            <a:fld id="{BD0EE75B-EF0F-E245-A34A-06675D448390}" type="slidenum">
              <a:rPr lang="en-US" smtClean="0"/>
              <a:t>2</a:t>
            </a:fld>
            <a:endParaRPr lang="en-US"/>
          </a:p>
        </p:txBody>
      </p:sp>
    </p:spTree>
    <p:extLst>
      <p:ext uri="{BB962C8B-B14F-4D97-AF65-F5344CB8AC3E}">
        <p14:creationId xmlns:p14="http://schemas.microsoft.com/office/powerpoint/2010/main" val="1661885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65B97-8D96-1DDA-4F0A-D76FD37AF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B854C-4C3C-7591-23E4-554C9E38F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CE1F4-80C0-1B51-2118-443CB82A5B78}"/>
              </a:ext>
            </a:extLst>
          </p:cNvPr>
          <p:cNvSpPr>
            <a:spLocks noGrp="1"/>
          </p:cNvSpPr>
          <p:nvPr>
            <p:ph type="body" idx="1"/>
          </p:nvPr>
        </p:nvSpPr>
        <p:spPr/>
        <p:txBody>
          <a:bodyPr/>
          <a:lstStyle/>
          <a:p>
            <a:r>
              <a:rPr lang="en-US"/>
              <a:t>https://</a:t>
            </a:r>
            <a:r>
              <a:rPr lang="en-US" err="1"/>
              <a:t>dravetfoundation.org</a:t>
            </a:r>
            <a:r>
              <a:rPr lang="en-US"/>
              <a:t>/comprehensive-center/</a:t>
            </a:r>
            <a:r>
              <a:rPr lang="en-US" err="1"/>
              <a:t>boston</a:t>
            </a:r>
            <a:r>
              <a:rPr lang="en-US"/>
              <a:t>-</a:t>
            </a:r>
            <a:r>
              <a:rPr lang="en-US" err="1"/>
              <a:t>childrens</a:t>
            </a:r>
            <a:r>
              <a:rPr lang="en-US"/>
              <a:t>-hospital/</a:t>
            </a:r>
          </a:p>
        </p:txBody>
      </p:sp>
      <p:sp>
        <p:nvSpPr>
          <p:cNvPr id="4" name="Slide Number Placeholder 3">
            <a:extLst>
              <a:ext uri="{FF2B5EF4-FFF2-40B4-BE49-F238E27FC236}">
                <a16:creationId xmlns:a16="http://schemas.microsoft.com/office/drawing/2014/main" id="{F6D3D9D3-ACD7-68C7-0EF3-916D4948720B}"/>
              </a:ext>
            </a:extLst>
          </p:cNvPr>
          <p:cNvSpPr>
            <a:spLocks noGrp="1"/>
          </p:cNvSpPr>
          <p:nvPr>
            <p:ph type="sldNum" sz="quarter" idx="5"/>
          </p:nvPr>
        </p:nvSpPr>
        <p:spPr/>
        <p:txBody>
          <a:bodyPr/>
          <a:lstStyle/>
          <a:p>
            <a:fld id="{BD0EE75B-EF0F-E245-A34A-06675D448390}" type="slidenum">
              <a:rPr lang="en-US" smtClean="0"/>
              <a:t>3</a:t>
            </a:fld>
            <a:endParaRPr lang="en-US"/>
          </a:p>
        </p:txBody>
      </p:sp>
    </p:spTree>
    <p:extLst>
      <p:ext uri="{BB962C8B-B14F-4D97-AF65-F5344CB8AC3E}">
        <p14:creationId xmlns:p14="http://schemas.microsoft.com/office/powerpoint/2010/main" val="2871486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The ordering is consistent with the challenge narrative that we expected in the beginning of this report: the time window holdout gives the upper bound of performance, seizure holdout is a personalized unseen-event setting, and patient holdout is the hardest population-level setting to model. The unbalanced test condition typically lowers F1, because it exposes the cost of false positives more realistically.</a:t>
            </a:r>
          </a:p>
          <a:p>
            <a:endParaRPr lang="en-US"/>
          </a:p>
        </p:txBody>
      </p:sp>
      <p:sp>
        <p:nvSpPr>
          <p:cNvPr id="4" name="Slide Number Placeholder 3"/>
          <p:cNvSpPr>
            <a:spLocks noGrp="1"/>
          </p:cNvSpPr>
          <p:nvPr>
            <p:ph type="sldNum" sz="quarter" idx="5"/>
          </p:nvPr>
        </p:nvSpPr>
        <p:spPr/>
        <p:txBody>
          <a:bodyPr/>
          <a:lstStyle/>
          <a:p>
            <a:fld id="{BD0EE75B-EF0F-E245-A34A-06675D448390}" type="slidenum">
              <a:rPr lang="en-US" smtClean="0"/>
              <a:t>13</a:t>
            </a:fld>
            <a:endParaRPr lang="en-US"/>
          </a:p>
        </p:txBody>
      </p:sp>
    </p:spTree>
    <p:extLst>
      <p:ext uri="{BB962C8B-B14F-4D97-AF65-F5344CB8AC3E}">
        <p14:creationId xmlns:p14="http://schemas.microsoft.com/office/powerpoint/2010/main" val="3480349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1FAC6-056D-3392-CB52-C45E749D5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5F14-7DDC-9087-3DA2-E905AC1E5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00C6B-E643-9F87-82D7-EE01E2B2B9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15090D-0E91-B702-3987-E059ED3713EB}"/>
              </a:ext>
            </a:extLst>
          </p:cNvPr>
          <p:cNvSpPr>
            <a:spLocks noGrp="1"/>
          </p:cNvSpPr>
          <p:nvPr>
            <p:ph type="sldNum" sz="quarter" idx="5"/>
          </p:nvPr>
        </p:nvSpPr>
        <p:spPr/>
        <p:txBody>
          <a:bodyPr/>
          <a:lstStyle/>
          <a:p>
            <a:fld id="{BD0EE75B-EF0F-E245-A34A-06675D448390}" type="slidenum">
              <a:rPr lang="en-US" smtClean="0"/>
              <a:t>14</a:t>
            </a:fld>
            <a:endParaRPr lang="en-US"/>
          </a:p>
        </p:txBody>
      </p:sp>
    </p:spTree>
    <p:extLst>
      <p:ext uri="{BB962C8B-B14F-4D97-AF65-F5344CB8AC3E}">
        <p14:creationId xmlns:p14="http://schemas.microsoft.com/office/powerpoint/2010/main" val="852883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This figure above reports the mean ROC-AUC for the same protocol and sampling matrix as the previous figure. The ranking pattern is similar to F1, but AUC is more stable. This suggests that the model still preserves useful ranking ability under harder protocols, even when the </a:t>
            </a:r>
            <a:r>
              <a:rPr lang="en-US" sz="1200" kern="1200" err="1">
                <a:solidFill>
                  <a:schemeClr val="tx1"/>
                </a:solidFill>
                <a:effectLst/>
                <a:latin typeface="+mn-lt"/>
                <a:ea typeface="+mn-ea"/>
                <a:cs typeface="+mn-cs"/>
              </a:rPr>
              <a:t>thresholded</a:t>
            </a:r>
            <a:r>
              <a:rPr lang="en-US" sz="1200" kern="1200">
                <a:solidFill>
                  <a:schemeClr val="tx1"/>
                </a:solidFill>
                <a:effectLst/>
                <a:latin typeface="+mn-lt"/>
                <a:ea typeface="+mn-ea"/>
                <a:cs typeface="+mn-cs"/>
              </a:rPr>
              <a:t> F1 score drops. In practice, this means class imbalance and threshold selection remain critical for deployment-oriented interpretation. Below, we report the F1 scores in all our sampling and split settings.</a:t>
            </a:r>
          </a:p>
          <a:p>
            <a:endParaRPr lang="en-US"/>
          </a:p>
        </p:txBody>
      </p:sp>
      <p:sp>
        <p:nvSpPr>
          <p:cNvPr id="4" name="Slide Number Placeholder 3"/>
          <p:cNvSpPr>
            <a:spLocks noGrp="1"/>
          </p:cNvSpPr>
          <p:nvPr>
            <p:ph type="sldNum" sz="quarter" idx="5"/>
          </p:nvPr>
        </p:nvSpPr>
        <p:spPr/>
        <p:txBody>
          <a:bodyPr/>
          <a:lstStyle/>
          <a:p>
            <a:fld id="{BD0EE75B-EF0F-E245-A34A-06675D448390}" type="slidenum">
              <a:rPr lang="en-US" smtClean="0"/>
              <a:t>15</a:t>
            </a:fld>
            <a:endParaRPr lang="en-US"/>
          </a:p>
        </p:txBody>
      </p:sp>
    </p:spTree>
    <p:extLst>
      <p:ext uri="{BB962C8B-B14F-4D97-AF65-F5344CB8AC3E}">
        <p14:creationId xmlns:p14="http://schemas.microsoft.com/office/powerpoint/2010/main" val="40581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Suggested Summary Paragraph for your Report:</a:t>
            </a:r>
          </a:p>
          <a:p>
            <a:r>
              <a:rPr lang="en-US"/>
              <a:t>"Comparing the aggregated confusion matrices reveals that the baseline CNN suffers from a severe generalization gap; while it performs adequately on familiar patients (78.2% recall on window-level), its sensitivity collapses to 44.5% when evaluated on unseen patients. In stark contrast, the End-to-End CNN-LSTM maintains a remarkable 93.6% recall and 98.7% specificity even in the strictest Leave-One-Subject-Out protocol. This proves that while static spatial features (CNN) are highly patient-specific, the sequential progression of these features over time (LSTM) provides a universal signature for epilepsy, drastically improving cross-patient robustness.</a:t>
            </a:r>
          </a:p>
          <a:p>
            <a:endParaRPr lang="en-US"/>
          </a:p>
          <a:p>
            <a:br>
              <a:rPr lang="en-US"/>
            </a:br>
            <a:br>
              <a:rPr lang="en-US"/>
            </a:br>
            <a:r>
              <a:rPr lang="en-US"/>
              <a:t>1. The "Generalization Gap" (The Biggest Story)</a:t>
            </a:r>
          </a:p>
          <a:p>
            <a:r>
              <a:rPr lang="en-US"/>
              <a:t>The CNN struggles with unseen data: Look at the bottom-right quadrant (True Positives / Recall) of the CNN. As the evaluation gets harder, its performance collapses: 78.2% (Window) ➔ 65.0% (Seizure) ➔ 44.5% (Patient). Because the CNN only looks at 1-second spatial snapshots, it memorizes patient-specific brainwaves. When forced to evaluate an entirely unseen patient, it acts worse than a coin flip at detecting seizures.</a:t>
            </a:r>
          </a:p>
          <a:p>
            <a:endParaRPr lang="en-US"/>
          </a:p>
          <a:p>
            <a:r>
              <a:rPr lang="en-US"/>
              <a:t>The LSTM bridges the gap: Look at the LSTM. Its True Positive rate remains incredibly stable and high across all protocols: 86.0% ➔ 94.7% ➔ 93.6%. By tracking how brainwaves evolve over time (sequences of 8 windows), the LSTM learns the universal temporal signature of a seizure, allowing it to generalize almost perfectly to completely unseen patients.</a:t>
            </a:r>
          </a:p>
          <a:p>
            <a:endParaRPr lang="en-US"/>
          </a:p>
          <a:p>
            <a:r>
              <a:rPr lang="en-US"/>
              <a:t>2. Clinical Sensitivity (Catching the Seizures)</a:t>
            </a:r>
          </a:p>
          <a:p>
            <a:r>
              <a:rPr lang="en-US"/>
              <a:t>In medical models, False Negatives (bottom-left quadrant) are dangerous because they represent missed seizures.</a:t>
            </a:r>
          </a:p>
          <a:p>
            <a:endParaRPr lang="en-US"/>
          </a:p>
          <a:p>
            <a:r>
              <a:rPr lang="en-US"/>
              <a:t>In the strictest protocol (Patient), the CNN misses 55.5% of all seizure windows.</a:t>
            </a:r>
          </a:p>
          <a:p>
            <a:endParaRPr lang="en-US"/>
          </a:p>
          <a:p>
            <a:r>
              <a:rPr lang="en-US"/>
              <a:t>The LSTM slashes this miss rate down to just 6.4%. It successfully identifies 93.6% of seizure states in brains it has never trained on.</a:t>
            </a:r>
          </a:p>
          <a:p>
            <a:endParaRPr lang="en-US"/>
          </a:p>
          <a:p>
            <a:r>
              <a:rPr lang="en-US"/>
              <a:t>3. Specificity and False Alarms (Top Row)</a:t>
            </a:r>
          </a:p>
          <a:p>
            <a:r>
              <a:rPr lang="en-US"/>
              <a:t>The CNN actually had decent Specificity (True Negative rate) to begin with, correctly identifying normal brainwaves ~94% to 98% of the time.</a:t>
            </a:r>
          </a:p>
          <a:p>
            <a:endParaRPr lang="en-US"/>
          </a:p>
          <a:p>
            <a:r>
              <a:rPr lang="en-US"/>
              <a:t>However, the LSTM tightens this up even further. Across all three protocols, the LSTM maintains a Specificity of 98.3% to 98.7%. This means the LSTM achieves its massive boost in seizure detection without increasing the false alarm rate.</a:t>
            </a:r>
          </a:p>
        </p:txBody>
      </p:sp>
      <p:sp>
        <p:nvSpPr>
          <p:cNvPr id="4" name="Slide Number Placeholder 3"/>
          <p:cNvSpPr>
            <a:spLocks noGrp="1"/>
          </p:cNvSpPr>
          <p:nvPr>
            <p:ph type="sldNum" sz="quarter" idx="5"/>
          </p:nvPr>
        </p:nvSpPr>
        <p:spPr/>
        <p:txBody>
          <a:bodyPr/>
          <a:lstStyle/>
          <a:p>
            <a:fld id="{BD0EE75B-EF0F-E245-A34A-06675D448390}" type="slidenum">
              <a:rPr lang="en-US" smtClean="0"/>
              <a:t>16</a:t>
            </a:fld>
            <a:endParaRPr lang="en-US"/>
          </a:p>
        </p:txBody>
      </p:sp>
    </p:spTree>
    <p:extLst>
      <p:ext uri="{BB962C8B-B14F-4D97-AF65-F5344CB8AC3E}">
        <p14:creationId xmlns:p14="http://schemas.microsoft.com/office/powerpoint/2010/main" val="2957328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A8F7D-9FB9-96B8-BCC6-E221425FD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0E69E-1828-3A31-F400-DFDFD88E4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7EA66-C7A4-2463-6EBF-109A504812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CA8004-646A-FEFB-0ACE-9F915B58E463}"/>
              </a:ext>
            </a:extLst>
          </p:cNvPr>
          <p:cNvSpPr>
            <a:spLocks noGrp="1"/>
          </p:cNvSpPr>
          <p:nvPr>
            <p:ph type="sldNum" sz="quarter" idx="5"/>
          </p:nvPr>
        </p:nvSpPr>
        <p:spPr/>
        <p:txBody>
          <a:bodyPr/>
          <a:lstStyle/>
          <a:p>
            <a:fld id="{BD0EE75B-EF0F-E245-A34A-06675D448390}" type="slidenum">
              <a:rPr lang="en-US" smtClean="0"/>
              <a:t>17</a:t>
            </a:fld>
            <a:endParaRPr lang="en-US"/>
          </a:p>
        </p:txBody>
      </p:sp>
    </p:spTree>
    <p:extLst>
      <p:ext uri="{BB962C8B-B14F-4D97-AF65-F5344CB8AC3E}">
        <p14:creationId xmlns:p14="http://schemas.microsoft.com/office/powerpoint/2010/main" val="1943087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52F09-D039-D6C9-00D5-D24C91C696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FD0C62-627D-ECDC-AB93-4E73C487B4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E4FF55-88C6-A128-D165-6E2D1124BA79}"/>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5" name="Footer Placeholder 4">
            <a:extLst>
              <a:ext uri="{FF2B5EF4-FFF2-40B4-BE49-F238E27FC236}">
                <a16:creationId xmlns:a16="http://schemas.microsoft.com/office/drawing/2014/main" id="{697FF707-22EB-02E6-8D36-6F4C368E4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C00AC6-2C9F-E36D-EA12-82F65EE5E57C}"/>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348894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77EF2-2D51-9C9F-AE35-9AC7D58A80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EE4989-B1BD-491E-1CBD-DEAF54CD28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04C3F1-4AAB-EC4D-8850-69653072DD2F}"/>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5" name="Footer Placeholder 4">
            <a:extLst>
              <a:ext uri="{FF2B5EF4-FFF2-40B4-BE49-F238E27FC236}">
                <a16:creationId xmlns:a16="http://schemas.microsoft.com/office/drawing/2014/main" id="{0C44581B-F6B4-89E9-1994-F8A419E4D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C3E58C-2E20-616B-B0C5-6A72A82BFA84}"/>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2162215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58DE-31B3-50E7-2CBA-3B1D194040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DD339B-A76E-A18A-66D1-6DCF18C0A2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C57D7C-4E8B-E3D5-16E7-47A388DC5E97}"/>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5" name="Footer Placeholder 4">
            <a:extLst>
              <a:ext uri="{FF2B5EF4-FFF2-40B4-BE49-F238E27FC236}">
                <a16:creationId xmlns:a16="http://schemas.microsoft.com/office/drawing/2014/main" id="{865E1A1E-7E77-3B98-DB76-4496FA9CF6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5B1B3-7920-D9CA-F1B2-5CD41937B91A}"/>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1566408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85C0B-4A4B-4580-DAD4-DC7E008910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064135-FB52-8AF5-C2F0-E06DF78F84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125E09-D4D7-AE02-0FFB-6A58917BE8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6532B4-C363-8559-86A6-7AC0646D40A6}"/>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6" name="Footer Placeholder 5">
            <a:extLst>
              <a:ext uri="{FF2B5EF4-FFF2-40B4-BE49-F238E27FC236}">
                <a16:creationId xmlns:a16="http://schemas.microsoft.com/office/drawing/2014/main" id="{2CDE32F9-7387-3E08-664B-13CD113FAD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B725F9-D2EA-3490-7DA3-3839EF351B53}"/>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3449902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2763C-3FCB-3E18-EE55-5F5708E90E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D6BA26-34DD-A373-FDCA-5E2A9A1683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5FB633-1BDB-E168-E111-195840BDD8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9565FF-142D-DEAB-6A39-DABDAB812C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90B710-4148-67D4-29B3-1BBBDEE9A5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527533-398F-9EA7-F12D-B30509E218B0}"/>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8" name="Footer Placeholder 7">
            <a:extLst>
              <a:ext uri="{FF2B5EF4-FFF2-40B4-BE49-F238E27FC236}">
                <a16:creationId xmlns:a16="http://schemas.microsoft.com/office/drawing/2014/main" id="{86DDD02F-5E89-8418-9A54-7251D6E43B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7D97F5-8E3C-4DFD-93CA-3DD15F20380F}"/>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421322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CDD8B-A60E-D79D-EF2C-E2C4CC6059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D257C4-CD41-CB47-30C7-95C3269F41AA}"/>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4" name="Footer Placeholder 3">
            <a:extLst>
              <a:ext uri="{FF2B5EF4-FFF2-40B4-BE49-F238E27FC236}">
                <a16:creationId xmlns:a16="http://schemas.microsoft.com/office/drawing/2014/main" id="{EB93A3D5-BEA4-C75B-B9B9-FB6D162D22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381D59-49D1-F25F-EDB4-6FEF30700F33}"/>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3522856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727309-0958-58C1-C134-EC47F2C81070}"/>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3" name="Footer Placeholder 2">
            <a:extLst>
              <a:ext uri="{FF2B5EF4-FFF2-40B4-BE49-F238E27FC236}">
                <a16:creationId xmlns:a16="http://schemas.microsoft.com/office/drawing/2014/main" id="{E4BB6C90-503B-8927-9A63-8BD8F18E4D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CD2C0D-D8FF-9FEE-C825-5DD22BFEEB09}"/>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1173758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AC1D3-B0A8-376B-6CD3-0449F2E82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0DCF61-7792-A938-200C-DEE6024503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F43659-1433-62F0-F4F3-68C01425F9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D1F357-D136-E5C1-AC01-985A7A2A1B33}"/>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6" name="Footer Placeholder 5">
            <a:extLst>
              <a:ext uri="{FF2B5EF4-FFF2-40B4-BE49-F238E27FC236}">
                <a16:creationId xmlns:a16="http://schemas.microsoft.com/office/drawing/2014/main" id="{9F38EF83-D0E0-488E-B508-62D8CE875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3E151A-E486-9B0A-9473-F29EECC75470}"/>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3370244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B5664-3F74-C315-6AE0-BBD329DEF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598495-4CD6-DBA2-E28A-1228B6305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C2439F-2B6E-0485-07B8-BF583A32F2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FF7086-6782-9268-3898-63F950BEA793}"/>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6" name="Footer Placeholder 5">
            <a:extLst>
              <a:ext uri="{FF2B5EF4-FFF2-40B4-BE49-F238E27FC236}">
                <a16:creationId xmlns:a16="http://schemas.microsoft.com/office/drawing/2014/main" id="{8EDAFAD1-F9BF-2D26-7DFC-C00A0C1608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DD584E-083B-3C26-4E59-2E51AD67311C}"/>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573100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2C96B-7785-8864-CBD1-D9923340D2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E19EEF-4E95-7735-E60C-A70A0879CB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F3C0B-5485-9514-D40C-AA9B7BD13FBB}"/>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5" name="Footer Placeholder 4">
            <a:extLst>
              <a:ext uri="{FF2B5EF4-FFF2-40B4-BE49-F238E27FC236}">
                <a16:creationId xmlns:a16="http://schemas.microsoft.com/office/drawing/2014/main" id="{BD09875B-AA93-232C-0460-584EE1A77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34E91-3AD3-71BF-8C81-F3CDA8AFA57D}"/>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1117437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0B750F-14D1-F67C-1A35-1970D371BE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9D3461-A568-937F-E7D5-D5040BA367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AAE44C-D77A-D9A5-62C8-881E66ED0A95}"/>
              </a:ext>
            </a:extLst>
          </p:cNvPr>
          <p:cNvSpPr>
            <a:spLocks noGrp="1"/>
          </p:cNvSpPr>
          <p:nvPr>
            <p:ph type="dt" sz="half" idx="10"/>
          </p:nvPr>
        </p:nvSpPr>
        <p:spPr/>
        <p:txBody>
          <a:bodyPr/>
          <a:lstStyle/>
          <a:p>
            <a:fld id="{947FBD62-AA3B-E74B-8A60-7E8626BB6760}" type="datetimeFigureOut">
              <a:rPr lang="en-US" smtClean="0"/>
              <a:t>4/27/26</a:t>
            </a:fld>
            <a:endParaRPr lang="en-US"/>
          </a:p>
        </p:txBody>
      </p:sp>
      <p:sp>
        <p:nvSpPr>
          <p:cNvPr id="5" name="Footer Placeholder 4">
            <a:extLst>
              <a:ext uri="{FF2B5EF4-FFF2-40B4-BE49-F238E27FC236}">
                <a16:creationId xmlns:a16="http://schemas.microsoft.com/office/drawing/2014/main" id="{B416A8FA-1C0E-92B5-9B1B-26482E0F4E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F733C-60D7-C14C-2BB2-7D64617D6028}"/>
              </a:ext>
            </a:extLst>
          </p:cNvPr>
          <p:cNvSpPr>
            <a:spLocks noGrp="1"/>
          </p:cNvSpPr>
          <p:nvPr>
            <p:ph type="sldNum" sz="quarter" idx="12"/>
          </p:nvPr>
        </p:nvSpPr>
        <p:spPr/>
        <p:txBody>
          <a:bodyPr/>
          <a:lstStyle/>
          <a:p>
            <a:fld id="{E608FCCD-04DE-2049-9107-2373F8A1FF81}" type="slidenum">
              <a:rPr lang="en-US" smtClean="0"/>
              <a:t>‹#›</a:t>
            </a:fld>
            <a:endParaRPr lang="en-US"/>
          </a:p>
        </p:txBody>
      </p:sp>
    </p:spTree>
    <p:extLst>
      <p:ext uri="{BB962C8B-B14F-4D97-AF65-F5344CB8AC3E}">
        <p14:creationId xmlns:p14="http://schemas.microsoft.com/office/powerpoint/2010/main" val="2025758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13B7C9-9B28-F794-DDA5-3E9E095259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57E1C5-FC63-1D79-11AA-1272C33C0D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3FB1C-82E0-36E0-421B-3FAF3F84A2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7FBD62-AA3B-E74B-8A60-7E8626BB6760}" type="datetimeFigureOut">
              <a:rPr lang="en-US" smtClean="0"/>
              <a:t>4/27/26</a:t>
            </a:fld>
            <a:endParaRPr lang="en-US"/>
          </a:p>
        </p:txBody>
      </p:sp>
      <p:sp>
        <p:nvSpPr>
          <p:cNvPr id="5" name="Footer Placeholder 4">
            <a:extLst>
              <a:ext uri="{FF2B5EF4-FFF2-40B4-BE49-F238E27FC236}">
                <a16:creationId xmlns:a16="http://schemas.microsoft.com/office/drawing/2014/main" id="{6CC51A10-34C1-6FC1-C227-2F44A240A2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D7E656-4BDE-987D-5941-58A08BBAA7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08FCCD-04DE-2049-9107-2373F8A1FF81}" type="slidenum">
              <a:rPr lang="en-US" smtClean="0"/>
              <a:t>‹#›</a:t>
            </a:fld>
            <a:endParaRPr lang="en-US"/>
          </a:p>
        </p:txBody>
      </p:sp>
    </p:spTree>
    <p:extLst>
      <p:ext uri="{BB962C8B-B14F-4D97-AF65-F5344CB8AC3E}">
        <p14:creationId xmlns:p14="http://schemas.microsoft.com/office/powerpoint/2010/main" val="328042866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95D34-F764-4C6E-05DD-5ABCF244C3C4}"/>
              </a:ext>
            </a:extLst>
          </p:cNvPr>
          <p:cNvSpPr>
            <a:spLocks noGrp="1"/>
          </p:cNvSpPr>
          <p:nvPr>
            <p:ph type="ctrTitle"/>
          </p:nvPr>
        </p:nvSpPr>
        <p:spPr>
          <a:xfrm>
            <a:off x="1524000" y="1525318"/>
            <a:ext cx="9144000" cy="2387600"/>
          </a:xfrm>
        </p:spPr>
        <p:txBody>
          <a:bodyPr>
            <a:normAutofit/>
          </a:bodyPr>
          <a:lstStyle/>
          <a:p>
            <a:r>
              <a:rPr lang="en-US" dirty="0"/>
              <a:t>Seizure Classification with  Deep Learning</a:t>
            </a:r>
          </a:p>
        </p:txBody>
      </p:sp>
      <p:sp>
        <p:nvSpPr>
          <p:cNvPr id="3" name="Subtitle 2">
            <a:extLst>
              <a:ext uri="{FF2B5EF4-FFF2-40B4-BE49-F238E27FC236}">
                <a16:creationId xmlns:a16="http://schemas.microsoft.com/office/drawing/2014/main" id="{80176A87-D84C-E30A-DC74-6C537B820CA3}"/>
              </a:ext>
            </a:extLst>
          </p:cNvPr>
          <p:cNvSpPr>
            <a:spLocks noGrp="1"/>
          </p:cNvSpPr>
          <p:nvPr>
            <p:ph type="subTitle" idx="1"/>
          </p:nvPr>
        </p:nvSpPr>
        <p:spPr>
          <a:xfrm>
            <a:off x="1524000" y="4121323"/>
            <a:ext cx="9144000" cy="1655762"/>
          </a:xfrm>
        </p:spPr>
        <p:txBody>
          <a:bodyPr vert="horz" lIns="91440" tIns="45720" rIns="91440" bIns="45720" rtlCol="0" anchor="t">
            <a:normAutofit fontScale="92500" lnSpcReduction="20000"/>
          </a:bodyPr>
          <a:lstStyle/>
          <a:p>
            <a:r>
              <a:rPr lang="en-GB" sz="2000" b="1" dirty="0"/>
              <a:t>Group 3</a:t>
            </a:r>
          </a:p>
          <a:p>
            <a:r>
              <a:rPr lang="en-GB" sz="2000" dirty="0">
                <a:solidFill>
                  <a:schemeClr val="tx2">
                    <a:lumMod val="75000"/>
                    <a:lumOff val="25000"/>
                  </a:schemeClr>
                </a:solidFill>
              </a:rPr>
              <a:t>Twyla Keating, 1770979</a:t>
            </a:r>
            <a:endParaRPr lang="en-US" sz="2000" dirty="0">
              <a:solidFill>
                <a:schemeClr val="tx2">
                  <a:lumMod val="75000"/>
                  <a:lumOff val="25000"/>
                </a:schemeClr>
              </a:solidFill>
            </a:endParaRPr>
          </a:p>
          <a:p>
            <a:r>
              <a:rPr lang="en-GB" sz="2000" dirty="0">
                <a:solidFill>
                  <a:srgbClr val="7030A0"/>
                </a:solidFill>
              </a:rPr>
              <a:t>Zijian Li, 1781642</a:t>
            </a:r>
            <a:endParaRPr lang="en-US" sz="2000" dirty="0">
              <a:solidFill>
                <a:srgbClr val="7030A0"/>
              </a:solidFill>
            </a:endParaRPr>
          </a:p>
          <a:p>
            <a:r>
              <a:rPr lang="en-GB" sz="2000" dirty="0">
                <a:solidFill>
                  <a:schemeClr val="accent2">
                    <a:lumMod val="75000"/>
                  </a:schemeClr>
                </a:solidFill>
              </a:rPr>
              <a:t>Enoch Shin, 1767565</a:t>
            </a:r>
            <a:endParaRPr lang="en-US" sz="2000" dirty="0">
              <a:solidFill>
                <a:schemeClr val="accent2">
                  <a:lumMod val="75000"/>
                </a:schemeClr>
              </a:solidFill>
            </a:endParaRPr>
          </a:p>
          <a:p>
            <a:r>
              <a:rPr lang="en-GB" sz="2000" dirty="0" err="1">
                <a:solidFill>
                  <a:schemeClr val="accent6">
                    <a:lumMod val="75000"/>
                  </a:schemeClr>
                </a:solidFill>
              </a:rPr>
              <a:t>Wenqi</a:t>
            </a:r>
            <a:r>
              <a:rPr lang="en-GB" sz="2000" dirty="0">
                <a:solidFill>
                  <a:schemeClr val="accent6">
                    <a:lumMod val="75000"/>
                  </a:schemeClr>
                </a:solidFill>
              </a:rPr>
              <a:t> Zhang, 1785174</a:t>
            </a:r>
            <a:endParaRPr lang="en-US" sz="2000" dirty="0">
              <a:solidFill>
                <a:schemeClr val="accent6">
                  <a:lumMod val="75000"/>
                </a:schemeClr>
              </a:solidFill>
            </a:endParaRPr>
          </a:p>
          <a:p>
            <a:endParaRPr lang="en-US" sz="2000" dirty="0"/>
          </a:p>
        </p:txBody>
      </p:sp>
    </p:spTree>
    <p:extLst>
      <p:ext uri="{BB962C8B-B14F-4D97-AF65-F5344CB8AC3E}">
        <p14:creationId xmlns:p14="http://schemas.microsoft.com/office/powerpoint/2010/main" val="236078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0BF86-C7F4-0AA3-4482-85B58F55AAEB}"/>
              </a:ext>
            </a:extLst>
          </p:cNvPr>
          <p:cNvSpPr>
            <a:spLocks noGrp="1"/>
          </p:cNvSpPr>
          <p:nvPr>
            <p:ph type="title"/>
          </p:nvPr>
        </p:nvSpPr>
        <p:spPr>
          <a:xfrm>
            <a:off x="264762" y="-185979"/>
            <a:ext cx="10515600" cy="1325563"/>
          </a:xfrm>
        </p:spPr>
        <p:txBody>
          <a:bodyPr/>
          <a:lstStyle/>
          <a:p>
            <a:r>
              <a:rPr lang="en-GB">
                <a:ea typeface="+mj-lt"/>
                <a:cs typeface="+mj-lt"/>
              </a:rPr>
              <a:t>Background and Motivations</a:t>
            </a:r>
            <a:endParaRPr lang="en-US"/>
          </a:p>
        </p:txBody>
      </p:sp>
      <p:sp>
        <p:nvSpPr>
          <p:cNvPr id="3" name="Content Placeholder 2">
            <a:extLst>
              <a:ext uri="{FF2B5EF4-FFF2-40B4-BE49-F238E27FC236}">
                <a16:creationId xmlns:a16="http://schemas.microsoft.com/office/drawing/2014/main" id="{B463CCF0-26C1-734F-1187-CBC695BC6473}"/>
              </a:ext>
            </a:extLst>
          </p:cNvPr>
          <p:cNvSpPr>
            <a:spLocks noGrp="1"/>
          </p:cNvSpPr>
          <p:nvPr>
            <p:ph idx="1"/>
          </p:nvPr>
        </p:nvSpPr>
        <p:spPr>
          <a:xfrm>
            <a:off x="838200" y="900274"/>
            <a:ext cx="10515600" cy="4351338"/>
          </a:xfrm>
        </p:spPr>
        <p:txBody>
          <a:bodyPr>
            <a:normAutofit/>
          </a:bodyPr>
          <a:lstStyle/>
          <a:p>
            <a:r>
              <a:rPr lang="en-GB" sz="2500">
                <a:ea typeface="+mn-lt"/>
                <a:cs typeface="+mn-lt"/>
              </a:rPr>
              <a:t>World Health Organization  -- 50 million people worldwide </a:t>
            </a:r>
          </a:p>
          <a:p>
            <a:pPr lvl="1"/>
            <a:r>
              <a:rPr lang="en-GB" sz="2500">
                <a:ea typeface="+mn-lt"/>
                <a:cs typeface="+mn-lt"/>
              </a:rPr>
              <a:t>“It is estimated that up to 70% of people living with epilepsy could live </a:t>
            </a:r>
            <a:r>
              <a:rPr lang="en-GB" sz="2500" b="1">
                <a:ea typeface="+mn-lt"/>
                <a:cs typeface="+mn-lt"/>
              </a:rPr>
              <a:t>seizure-free </a:t>
            </a:r>
            <a:r>
              <a:rPr lang="en-GB" sz="2500">
                <a:ea typeface="+mn-lt"/>
                <a:cs typeface="+mn-lt"/>
              </a:rPr>
              <a:t>if </a:t>
            </a:r>
            <a:r>
              <a:rPr lang="en-GB" sz="2500" b="1">
                <a:ea typeface="+mn-lt"/>
                <a:cs typeface="+mn-lt"/>
              </a:rPr>
              <a:t>properly diagnosed and treated</a:t>
            </a:r>
            <a:r>
              <a:rPr lang="en-GB" sz="2500">
                <a:ea typeface="+mn-lt"/>
                <a:cs typeface="+mn-lt"/>
              </a:rPr>
              <a:t>.”</a:t>
            </a:r>
          </a:p>
          <a:p>
            <a:r>
              <a:rPr lang="en-GB" sz="2500">
                <a:ea typeface="+mn-lt"/>
                <a:cs typeface="+mn-lt"/>
              </a:rPr>
              <a:t>Physical and psychological comorbidities</a:t>
            </a:r>
          </a:p>
          <a:p>
            <a:endParaRPr lang="en-GB" sz="2500">
              <a:ea typeface="+mn-lt"/>
              <a:cs typeface="+mn-lt"/>
            </a:endParaRPr>
          </a:p>
          <a:p>
            <a:endParaRPr lang="en-GB" sz="2500">
              <a:ea typeface="+mn-lt"/>
              <a:cs typeface="+mn-lt"/>
            </a:endParaRPr>
          </a:p>
        </p:txBody>
      </p:sp>
      <p:pic>
        <p:nvPicPr>
          <p:cNvPr id="1028" name="Picture 4" descr="Fig. 1">
            <a:extLst>
              <a:ext uri="{FF2B5EF4-FFF2-40B4-BE49-F238E27FC236}">
                <a16:creationId xmlns:a16="http://schemas.microsoft.com/office/drawing/2014/main" id="{5307AFAE-D857-9287-F6C4-E7991BB8A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236" y="2662000"/>
            <a:ext cx="5100781" cy="3962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20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513967-151F-FC36-8F5B-DACC0C175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F0AD4-C375-FF7C-1297-03CEE47C7AC2}"/>
              </a:ext>
            </a:extLst>
          </p:cNvPr>
          <p:cNvSpPr>
            <a:spLocks noGrp="1"/>
          </p:cNvSpPr>
          <p:nvPr>
            <p:ph type="title"/>
          </p:nvPr>
        </p:nvSpPr>
        <p:spPr>
          <a:xfrm>
            <a:off x="264762" y="-185979"/>
            <a:ext cx="10515600" cy="1325563"/>
          </a:xfrm>
        </p:spPr>
        <p:txBody>
          <a:bodyPr/>
          <a:lstStyle/>
          <a:p>
            <a:r>
              <a:rPr lang="en-GB">
                <a:ea typeface="+mj-lt"/>
                <a:cs typeface="+mj-lt"/>
              </a:rPr>
              <a:t>Dataset</a:t>
            </a:r>
            <a:endParaRPr lang="en-US"/>
          </a:p>
        </p:txBody>
      </p:sp>
      <p:sp>
        <p:nvSpPr>
          <p:cNvPr id="3" name="Content Placeholder 2">
            <a:extLst>
              <a:ext uri="{FF2B5EF4-FFF2-40B4-BE49-F238E27FC236}">
                <a16:creationId xmlns:a16="http://schemas.microsoft.com/office/drawing/2014/main" id="{9C676C20-8A22-C157-BEEB-2954CFB837EB}"/>
              </a:ext>
            </a:extLst>
          </p:cNvPr>
          <p:cNvSpPr>
            <a:spLocks noGrp="1"/>
          </p:cNvSpPr>
          <p:nvPr>
            <p:ph idx="1"/>
          </p:nvPr>
        </p:nvSpPr>
        <p:spPr>
          <a:xfrm>
            <a:off x="838200" y="754801"/>
            <a:ext cx="10515600" cy="4351338"/>
          </a:xfrm>
        </p:spPr>
        <p:txBody>
          <a:bodyPr>
            <a:normAutofit/>
          </a:bodyPr>
          <a:lstStyle/>
          <a:p>
            <a:r>
              <a:rPr lang="en-US" sz="2500"/>
              <a:t>Children’s Hospital Boston – MIT EEG recordings from 23 pediatric and one adult patient</a:t>
            </a:r>
          </a:p>
          <a:p>
            <a:r>
              <a:rPr lang="en-GB" sz="2500">
                <a:ea typeface="+mn-lt"/>
                <a:cs typeface="+mn-lt"/>
              </a:rPr>
              <a:t>23 channels, recorded by EEG cap with 21 electrodes</a:t>
            </a:r>
          </a:p>
          <a:p>
            <a:r>
              <a:rPr lang="en-US" sz="2500"/>
              <a:t>Segmented into 1-second temporal windows</a:t>
            </a:r>
          </a:p>
          <a:p>
            <a:pPr marL="0" indent="0">
              <a:buNone/>
            </a:pPr>
            <a:endParaRPr lang="en-GB" sz="2500">
              <a:ea typeface="+mn-lt"/>
              <a:cs typeface="+mn-lt"/>
            </a:endParaRPr>
          </a:p>
          <a:p>
            <a:endParaRPr lang="en-GB" sz="2500">
              <a:ea typeface="+mn-lt"/>
              <a:cs typeface="+mn-lt"/>
            </a:endParaRPr>
          </a:p>
        </p:txBody>
      </p:sp>
      <p:pic>
        <p:nvPicPr>
          <p:cNvPr id="4" name="Picture 2" descr="Boston Children's Hospital - Dravet Syndrome Foundation">
            <a:extLst>
              <a:ext uri="{FF2B5EF4-FFF2-40B4-BE49-F238E27FC236}">
                <a16:creationId xmlns:a16="http://schemas.microsoft.com/office/drawing/2014/main" id="{937DA4E9-1F41-E9B4-949B-0B77107D6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111" y="2568030"/>
            <a:ext cx="6325849" cy="4217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844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75302E-316E-BB46-2D72-09AA5B668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FE1C3-58A7-3800-D3A4-C747EB7F6BD6}"/>
              </a:ext>
            </a:extLst>
          </p:cNvPr>
          <p:cNvSpPr>
            <a:spLocks noGrp="1"/>
          </p:cNvSpPr>
          <p:nvPr>
            <p:ph type="title"/>
          </p:nvPr>
        </p:nvSpPr>
        <p:spPr>
          <a:xfrm>
            <a:off x="258065" y="0"/>
            <a:ext cx="10515600" cy="1325563"/>
          </a:xfrm>
        </p:spPr>
        <p:txBody>
          <a:bodyPr>
            <a:normAutofit/>
          </a:bodyPr>
          <a:lstStyle/>
          <a:p>
            <a:r>
              <a:rPr lang="en-US" sz="5400"/>
              <a:t>Goals</a:t>
            </a:r>
          </a:p>
        </p:txBody>
      </p:sp>
      <p:sp>
        <p:nvSpPr>
          <p:cNvPr id="3" name="Content Placeholder 2">
            <a:extLst>
              <a:ext uri="{FF2B5EF4-FFF2-40B4-BE49-F238E27FC236}">
                <a16:creationId xmlns:a16="http://schemas.microsoft.com/office/drawing/2014/main" id="{7B696EE4-429D-F413-7A3F-AE698B1C4B37}"/>
              </a:ext>
            </a:extLst>
          </p:cNvPr>
          <p:cNvSpPr>
            <a:spLocks noGrp="1"/>
          </p:cNvSpPr>
          <p:nvPr>
            <p:ph idx="1"/>
          </p:nvPr>
        </p:nvSpPr>
        <p:spPr>
          <a:xfrm>
            <a:off x="838200" y="1325563"/>
            <a:ext cx="10515600" cy="4351338"/>
          </a:xfrm>
        </p:spPr>
        <p:txBody>
          <a:bodyPr vert="horz" lIns="91440" tIns="45720" rIns="91440" bIns="45720" rtlCol="0" anchor="t">
            <a:normAutofit lnSpcReduction="10000"/>
          </a:bodyPr>
          <a:lstStyle/>
          <a:p>
            <a:r>
              <a:rPr lang="en-US" b="1" dirty="0">
                <a:ea typeface="+mn-lt"/>
                <a:cs typeface="+mn-lt"/>
              </a:rPr>
              <a:t>Overall Goal:</a:t>
            </a:r>
            <a:r>
              <a:rPr lang="en-US" dirty="0">
                <a:ea typeface="+mn-lt"/>
                <a:cs typeface="+mn-lt"/>
              </a:rPr>
              <a:t> accurate classification</a:t>
            </a:r>
            <a:r>
              <a:rPr lang="en-US" b="1" dirty="0">
                <a:ea typeface="+mn-lt"/>
                <a:cs typeface="+mn-lt"/>
              </a:rPr>
              <a:t> </a:t>
            </a:r>
            <a:r>
              <a:rPr lang="en-US" dirty="0">
                <a:ea typeface="+mn-lt"/>
                <a:cs typeface="+mn-lt"/>
              </a:rPr>
              <a:t>of EEG data, generalizable model</a:t>
            </a:r>
          </a:p>
          <a:p>
            <a:r>
              <a:rPr lang="en-US" b="1" dirty="0">
                <a:ea typeface="+mn-lt"/>
                <a:cs typeface="+mn-lt"/>
              </a:rPr>
              <a:t>Goal 1 – Model with different data scopes</a:t>
            </a:r>
          </a:p>
          <a:p>
            <a:pPr lvl="1"/>
            <a:r>
              <a:rPr lang="en-US" b="1" dirty="0">
                <a:ea typeface="+mn-lt"/>
                <a:cs typeface="+mn-lt"/>
              </a:rPr>
              <a:t>Window:</a:t>
            </a:r>
            <a:r>
              <a:rPr lang="en-US" dirty="0">
                <a:ea typeface="+mn-lt"/>
                <a:cs typeface="+mn-lt"/>
              </a:rPr>
              <a:t> each unit of time. Represents upper bound of performance (because train and test windows can be from same seizure episode) </a:t>
            </a:r>
          </a:p>
          <a:p>
            <a:pPr lvl="2"/>
            <a:r>
              <a:rPr lang="en-US" b="1" i="1" dirty="0">
                <a:solidFill>
                  <a:srgbClr val="FF0000"/>
                </a:solidFill>
                <a:ea typeface="+mn-lt"/>
                <a:cs typeface="+mn-lt"/>
              </a:rPr>
              <a:t>Fix window leakage and same-person patient</a:t>
            </a:r>
          </a:p>
          <a:p>
            <a:pPr lvl="1"/>
            <a:r>
              <a:rPr lang="en-US" b="1" dirty="0">
                <a:ea typeface="+mn-lt"/>
                <a:cs typeface="+mn-lt"/>
              </a:rPr>
              <a:t>Seizure:</a:t>
            </a:r>
            <a:r>
              <a:rPr lang="en-US" dirty="0">
                <a:ea typeface="+mn-lt"/>
                <a:cs typeface="+mn-lt"/>
              </a:rPr>
              <a:t> split by seizure vs. non-seizure events </a:t>
            </a:r>
          </a:p>
          <a:p>
            <a:pPr lvl="1"/>
            <a:r>
              <a:rPr lang="en-US" b="1" dirty="0">
                <a:ea typeface="+mn-lt"/>
                <a:cs typeface="+mn-lt"/>
              </a:rPr>
              <a:t>Patient:</a:t>
            </a:r>
            <a:r>
              <a:rPr lang="en-US" dirty="0">
                <a:ea typeface="+mn-lt"/>
                <a:cs typeface="+mn-lt"/>
              </a:rPr>
              <a:t> most generalizable, for modeling unseen patients</a:t>
            </a:r>
            <a:endParaRPr lang="en-US" b="1" dirty="0">
              <a:ea typeface="+mn-lt"/>
              <a:cs typeface="+mn-lt"/>
            </a:endParaRPr>
          </a:p>
          <a:p>
            <a:r>
              <a:rPr lang="en-US" b="1" dirty="0">
                <a:ea typeface="+mn-lt"/>
                <a:cs typeface="+mn-lt"/>
              </a:rPr>
              <a:t>Goal 2 -- Compare two architectures</a:t>
            </a:r>
            <a:endParaRPr lang="en-US" dirty="0">
              <a:ea typeface="+mn-lt"/>
              <a:cs typeface="+mn-lt"/>
            </a:endParaRPr>
          </a:p>
          <a:p>
            <a:pPr lvl="1"/>
            <a:r>
              <a:rPr lang="en-US" dirty="0">
                <a:ea typeface="+mn-lt"/>
                <a:cs typeface="+mn-lt"/>
              </a:rPr>
              <a:t>Classification with channel fusion (no temporal data / “memory”)</a:t>
            </a:r>
          </a:p>
          <a:p>
            <a:pPr lvl="1"/>
            <a:r>
              <a:rPr lang="en-US" b="1" dirty="0">
                <a:ea typeface="+mn-lt"/>
                <a:cs typeface="+mn-lt"/>
              </a:rPr>
              <a:t>LSTM</a:t>
            </a:r>
            <a:r>
              <a:rPr lang="en-US" dirty="0">
                <a:ea typeface="+mn-lt"/>
                <a:cs typeface="+mn-lt"/>
              </a:rPr>
              <a:t> methods to incorporate temporal data</a:t>
            </a:r>
            <a:endParaRPr lang="en-US" dirty="0"/>
          </a:p>
          <a:p>
            <a:pPr marL="457200" lvl="1" indent="0">
              <a:buNone/>
            </a:pPr>
            <a:endParaRPr lang="en-US" dirty="0"/>
          </a:p>
          <a:p>
            <a:pPr lvl="1"/>
            <a:endParaRPr lang="en-US" dirty="0"/>
          </a:p>
          <a:p>
            <a:pPr lvl="1"/>
            <a:endParaRPr lang="en-US" dirty="0"/>
          </a:p>
          <a:p>
            <a:endParaRPr lang="en-US" dirty="0"/>
          </a:p>
          <a:p>
            <a:endParaRPr lang="en-US" dirty="0"/>
          </a:p>
        </p:txBody>
      </p:sp>
      <p:sp>
        <p:nvSpPr>
          <p:cNvPr id="4" name="TextBox 3">
            <a:extLst>
              <a:ext uri="{FF2B5EF4-FFF2-40B4-BE49-F238E27FC236}">
                <a16:creationId xmlns:a16="http://schemas.microsoft.com/office/drawing/2014/main" id="{F7999505-AE91-8B1A-FC3A-3E9337785D69}"/>
              </a:ext>
            </a:extLst>
          </p:cNvPr>
          <p:cNvSpPr txBox="1"/>
          <p:nvPr/>
        </p:nvSpPr>
        <p:spPr>
          <a:xfrm>
            <a:off x="-606019" y="3244333"/>
            <a:ext cx="2575931" cy="369332"/>
          </a:xfrm>
          <a:prstGeom prst="rect">
            <a:avLst/>
          </a:prstGeom>
          <a:noFill/>
        </p:spPr>
        <p:txBody>
          <a:bodyPr wrap="square" rtlCol="0">
            <a:spAutoFit/>
          </a:bodyPr>
          <a:lstStyle/>
          <a:p>
            <a:pPr algn="ctr"/>
            <a:r>
              <a:rPr lang="en-US">
                <a:solidFill>
                  <a:srgbClr val="FF0000"/>
                </a:solidFill>
              </a:rPr>
              <a:t>difficulty</a:t>
            </a:r>
          </a:p>
        </p:txBody>
      </p:sp>
      <p:cxnSp>
        <p:nvCxnSpPr>
          <p:cNvPr id="6" name="Straight Arrow Connector 5">
            <a:extLst>
              <a:ext uri="{FF2B5EF4-FFF2-40B4-BE49-F238E27FC236}">
                <a16:creationId xmlns:a16="http://schemas.microsoft.com/office/drawing/2014/main" id="{54C9B681-D77E-06EA-AA3B-ABC49B67B644}"/>
              </a:ext>
            </a:extLst>
          </p:cNvPr>
          <p:cNvCxnSpPr/>
          <p:nvPr/>
        </p:nvCxnSpPr>
        <p:spPr>
          <a:xfrm>
            <a:off x="1193181" y="2798956"/>
            <a:ext cx="0" cy="12600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6003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22EC6A8-7F6F-DEE4-19E5-675126C63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77519-4EB2-5067-7326-7C575948EC8C}"/>
              </a:ext>
            </a:extLst>
          </p:cNvPr>
          <p:cNvSpPr>
            <a:spLocks noGrp="1"/>
          </p:cNvSpPr>
          <p:nvPr>
            <p:ph type="title"/>
          </p:nvPr>
        </p:nvSpPr>
        <p:spPr>
          <a:xfrm>
            <a:off x="258065" y="0"/>
            <a:ext cx="10515600" cy="1325563"/>
          </a:xfrm>
        </p:spPr>
        <p:txBody>
          <a:bodyPr>
            <a:normAutofit/>
          </a:bodyPr>
          <a:lstStyle/>
          <a:p>
            <a:r>
              <a:rPr lang="en-US" sz="5400"/>
              <a:t>Additional data splitting / cleaning </a:t>
            </a:r>
          </a:p>
        </p:txBody>
      </p:sp>
      <p:sp>
        <p:nvSpPr>
          <p:cNvPr id="3" name="Content Placeholder 2">
            <a:extLst>
              <a:ext uri="{FF2B5EF4-FFF2-40B4-BE49-F238E27FC236}">
                <a16:creationId xmlns:a16="http://schemas.microsoft.com/office/drawing/2014/main" id="{6D6D182B-E987-55B9-E50C-BB93AA6273A4}"/>
              </a:ext>
            </a:extLst>
          </p:cNvPr>
          <p:cNvSpPr>
            <a:spLocks noGrp="1"/>
          </p:cNvSpPr>
          <p:nvPr>
            <p:ph idx="1"/>
          </p:nvPr>
        </p:nvSpPr>
        <p:spPr>
          <a:xfrm>
            <a:off x="838200" y="1325563"/>
            <a:ext cx="10515600" cy="4351338"/>
          </a:xfrm>
        </p:spPr>
        <p:txBody>
          <a:bodyPr vert="horz" lIns="91440" tIns="45720" rIns="91440" bIns="45720" rtlCol="0" anchor="t">
            <a:normAutofit/>
          </a:bodyPr>
          <a:lstStyle/>
          <a:p>
            <a:pPr marL="0" indent="0">
              <a:buNone/>
            </a:pPr>
            <a:endParaRPr lang="en-US"/>
          </a:p>
          <a:p>
            <a:pPr marL="457200" lvl="1" indent="0">
              <a:buNone/>
            </a:pPr>
            <a:endParaRPr lang="en-US"/>
          </a:p>
          <a:p>
            <a:pPr lvl="1"/>
            <a:endParaRPr lang="en-US"/>
          </a:p>
          <a:p>
            <a:pPr lvl="1"/>
            <a:endParaRPr lang="en-US"/>
          </a:p>
          <a:p>
            <a:endParaRPr lang="en-US"/>
          </a:p>
          <a:p>
            <a:endParaRPr lang="en-US"/>
          </a:p>
        </p:txBody>
      </p:sp>
      <p:pic>
        <p:nvPicPr>
          <p:cNvPr id="5" name="Picture 4">
            <a:extLst>
              <a:ext uri="{FF2B5EF4-FFF2-40B4-BE49-F238E27FC236}">
                <a16:creationId xmlns:a16="http://schemas.microsoft.com/office/drawing/2014/main" id="{5A5087AE-5AD0-FE2C-3F25-7C7EEEDB9150}"/>
              </a:ext>
            </a:extLst>
          </p:cNvPr>
          <p:cNvPicPr>
            <a:picLocks noChangeAspect="1"/>
          </p:cNvPicPr>
          <p:nvPr/>
        </p:nvPicPr>
        <p:blipFill>
          <a:blip r:embed="rId2"/>
          <a:stretch>
            <a:fillRect/>
          </a:stretch>
        </p:blipFill>
        <p:spPr>
          <a:xfrm>
            <a:off x="2832100" y="2728921"/>
            <a:ext cx="7010400" cy="4027479"/>
          </a:xfrm>
          <a:prstGeom prst="rect">
            <a:avLst/>
          </a:prstGeom>
        </p:spPr>
      </p:pic>
      <p:sp>
        <p:nvSpPr>
          <p:cNvPr id="7" name="Content Placeholder 2">
            <a:extLst>
              <a:ext uri="{FF2B5EF4-FFF2-40B4-BE49-F238E27FC236}">
                <a16:creationId xmlns:a16="http://schemas.microsoft.com/office/drawing/2014/main" id="{3D9D4A76-F63B-3371-9F08-22BE3B9B7612}"/>
              </a:ext>
            </a:extLst>
          </p:cNvPr>
          <p:cNvSpPr txBox="1">
            <a:spLocks/>
          </p:cNvSpPr>
          <p:nvPr/>
        </p:nvSpPr>
        <p:spPr>
          <a:xfrm>
            <a:off x="838200" y="1181099"/>
            <a:ext cx="10515600" cy="424180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mn-lt"/>
                <a:cs typeface="+mn-lt"/>
              </a:rPr>
              <a:t>Combine chb01 and chb21 (same person)</a:t>
            </a:r>
          </a:p>
          <a:p>
            <a:r>
              <a:rPr lang="en-US" dirty="0">
                <a:ea typeface="+mn-lt"/>
                <a:cs typeface="+mn-lt"/>
              </a:rPr>
              <a:t>Window leakage: artificially high performance</a:t>
            </a:r>
          </a:p>
          <a:p>
            <a:r>
              <a:rPr lang="en-US" dirty="0"/>
              <a:t>Ensure no overlapping data across train and test</a:t>
            </a:r>
          </a:p>
          <a:p>
            <a:pPr marL="457200" lvl="1" indent="0">
              <a:buFont typeface="Arial" panose="020B0604020202020204" pitchFamily="34" charset="0"/>
              <a:buNone/>
            </a:pPr>
            <a:endParaRPr lang="en-US" dirty="0"/>
          </a:p>
          <a:p>
            <a:pPr lvl="1"/>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3035042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A46ADB5-363E-D438-496C-E805A375E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DBFE2-5B08-5F7E-9C34-4E288038744C}"/>
              </a:ext>
            </a:extLst>
          </p:cNvPr>
          <p:cNvSpPr>
            <a:spLocks noGrp="1"/>
          </p:cNvSpPr>
          <p:nvPr>
            <p:ph type="title"/>
          </p:nvPr>
        </p:nvSpPr>
        <p:spPr>
          <a:xfrm>
            <a:off x="557323" y="-120078"/>
            <a:ext cx="10515600" cy="1325563"/>
          </a:xfrm>
        </p:spPr>
        <p:txBody>
          <a:bodyPr/>
          <a:lstStyle/>
          <a:p>
            <a:r>
              <a:rPr lang="en-US"/>
              <a:t>Methodology: Architecture Selection</a:t>
            </a:r>
          </a:p>
        </p:txBody>
      </p:sp>
      <p:sp>
        <p:nvSpPr>
          <p:cNvPr id="3" name="Content Placeholder 2">
            <a:extLst>
              <a:ext uri="{FF2B5EF4-FFF2-40B4-BE49-F238E27FC236}">
                <a16:creationId xmlns:a16="http://schemas.microsoft.com/office/drawing/2014/main" id="{0A55E001-F8E3-3896-F178-D3FED9B70D43}"/>
              </a:ext>
            </a:extLst>
          </p:cNvPr>
          <p:cNvSpPr>
            <a:spLocks noGrp="1"/>
          </p:cNvSpPr>
          <p:nvPr>
            <p:ph idx="1"/>
          </p:nvPr>
        </p:nvSpPr>
        <p:spPr>
          <a:xfrm>
            <a:off x="814703" y="1051185"/>
            <a:ext cx="8921155" cy="2358028"/>
          </a:xfrm>
        </p:spPr>
        <p:txBody>
          <a:bodyPr vert="horz" lIns="91440" tIns="45720" rIns="91440" bIns="45720" rtlCol="0" anchor="t">
            <a:normAutofit/>
          </a:bodyPr>
          <a:lstStyle/>
          <a:p>
            <a:pPr lvl="1"/>
            <a:r>
              <a:rPr lang="en-US">
                <a:ea typeface="+mn-lt"/>
                <a:cs typeface="+mn-lt"/>
              </a:rPr>
              <a:t>Classification (not temporal) </a:t>
            </a:r>
            <a:r>
              <a:rPr lang="en-US">
                <a:ea typeface="+mn-lt"/>
                <a:cs typeface="+mn-lt"/>
                <a:sym typeface="Wingdings" pitchFamily="2" charset="2"/>
              </a:rPr>
              <a:t> CNN</a:t>
            </a:r>
          </a:p>
          <a:p>
            <a:pPr lvl="2"/>
            <a:r>
              <a:rPr lang="en-US">
                <a:ea typeface="+mn-lt"/>
                <a:cs typeface="+mn-lt"/>
                <a:sym typeface="Wingdings" pitchFamily="2" charset="2"/>
              </a:rPr>
              <a:t>Why: well-validated in existing literature, light computation</a:t>
            </a:r>
          </a:p>
          <a:p>
            <a:pPr lvl="2"/>
            <a:r>
              <a:rPr lang="en-US">
                <a:ea typeface="+mn-lt"/>
                <a:cs typeface="+mn-lt"/>
                <a:sym typeface="Wingdings" pitchFamily="2" charset="2"/>
              </a:rPr>
              <a:t>Serves as baseline because it doesn’t use sequential context</a:t>
            </a:r>
            <a:endParaRPr lang="en-US">
              <a:ea typeface="+mn-lt"/>
              <a:cs typeface="+mn-lt"/>
            </a:endParaRPr>
          </a:p>
          <a:p>
            <a:pPr lvl="1"/>
            <a:r>
              <a:rPr lang="en-US">
                <a:ea typeface="+mn-lt"/>
                <a:cs typeface="+mn-lt"/>
              </a:rPr>
              <a:t>With temporal data </a:t>
            </a:r>
            <a:r>
              <a:rPr lang="en-US">
                <a:ea typeface="+mn-lt"/>
                <a:cs typeface="+mn-lt"/>
                <a:sym typeface="Wingdings" pitchFamily="2" charset="2"/>
              </a:rPr>
              <a:t> Spiking Convolutional Transformer</a:t>
            </a:r>
          </a:p>
          <a:p>
            <a:pPr lvl="2"/>
            <a:r>
              <a:rPr lang="en-US">
                <a:ea typeface="+mn-lt"/>
                <a:cs typeface="+mn-lt"/>
                <a:sym typeface="Wingdings" pitchFamily="2" charset="2"/>
              </a:rPr>
              <a:t>Why: recent literature from 2024, reflects more cutting-edge method</a:t>
            </a:r>
          </a:p>
          <a:p>
            <a:pPr lvl="2"/>
            <a:r>
              <a:rPr lang="en-US" i="1">
                <a:ea typeface="+mn-lt"/>
                <a:cs typeface="+mn-lt"/>
                <a:sym typeface="Wingdings" pitchFamily="2" charset="2"/>
              </a:rPr>
              <a:t>We will discuss this later in the final submission.</a:t>
            </a:r>
            <a:endParaRPr lang="en-US" i="1"/>
          </a:p>
        </p:txBody>
      </p:sp>
      <p:pic>
        <p:nvPicPr>
          <p:cNvPr id="5" name="Picture 4">
            <a:extLst>
              <a:ext uri="{FF2B5EF4-FFF2-40B4-BE49-F238E27FC236}">
                <a16:creationId xmlns:a16="http://schemas.microsoft.com/office/drawing/2014/main" id="{D093D101-6FA7-258E-639D-40383ECF4616}"/>
              </a:ext>
            </a:extLst>
          </p:cNvPr>
          <p:cNvPicPr>
            <a:picLocks noChangeAspect="1"/>
          </p:cNvPicPr>
          <p:nvPr/>
        </p:nvPicPr>
        <p:blipFill>
          <a:blip r:embed="rId2"/>
          <a:stretch>
            <a:fillRect/>
          </a:stretch>
        </p:blipFill>
        <p:spPr>
          <a:xfrm>
            <a:off x="1949170" y="3448787"/>
            <a:ext cx="7772400" cy="3111909"/>
          </a:xfrm>
          <a:prstGeom prst="rect">
            <a:avLst/>
          </a:prstGeom>
        </p:spPr>
      </p:pic>
    </p:spTree>
    <p:extLst>
      <p:ext uri="{BB962C8B-B14F-4D97-AF65-F5344CB8AC3E}">
        <p14:creationId xmlns:p14="http://schemas.microsoft.com/office/powerpoint/2010/main" val="3206771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B29C28C-A96F-77AF-C659-09438D1FF19A}"/>
              </a:ext>
            </a:extLst>
          </p:cNvPr>
          <p:cNvSpPr>
            <a:spLocks noGrp="1"/>
          </p:cNvSpPr>
          <p:nvPr>
            <p:ph type="title"/>
          </p:nvPr>
        </p:nvSpPr>
        <p:spPr>
          <a:xfrm>
            <a:off x="223104" y="0"/>
            <a:ext cx="10515600" cy="1325563"/>
          </a:xfrm>
        </p:spPr>
        <p:txBody>
          <a:bodyPr/>
          <a:lstStyle/>
          <a:p>
            <a:r>
              <a:rPr lang="en-US"/>
              <a:t>CNN Methodology Overview</a:t>
            </a:r>
          </a:p>
        </p:txBody>
      </p:sp>
      <p:sp>
        <p:nvSpPr>
          <p:cNvPr id="5" name="TextBox 4">
            <a:extLst>
              <a:ext uri="{FF2B5EF4-FFF2-40B4-BE49-F238E27FC236}">
                <a16:creationId xmlns:a16="http://schemas.microsoft.com/office/drawing/2014/main" id="{6EA17400-C680-8583-2D68-D65FB4ED4FA7}"/>
              </a:ext>
            </a:extLst>
          </p:cNvPr>
          <p:cNvSpPr txBox="1"/>
          <p:nvPr/>
        </p:nvSpPr>
        <p:spPr>
          <a:xfrm>
            <a:off x="646843" y="1211786"/>
            <a:ext cx="10898313" cy="1477328"/>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3000"/>
              <a:t>CNN is a simple baseline to help us see difference in data splits (patient, seizure, window)</a:t>
            </a:r>
          </a:p>
          <a:p>
            <a:pPr marL="457200" indent="-457200">
              <a:buFont typeface="Arial" panose="020B0604020202020204" pitchFamily="34" charset="0"/>
              <a:buChar char="•"/>
            </a:pPr>
            <a:endParaRPr lang="en-US" sz="3000"/>
          </a:p>
        </p:txBody>
      </p:sp>
      <p:pic>
        <p:nvPicPr>
          <p:cNvPr id="2" name="Picture 1">
            <a:extLst>
              <a:ext uri="{FF2B5EF4-FFF2-40B4-BE49-F238E27FC236}">
                <a16:creationId xmlns:a16="http://schemas.microsoft.com/office/drawing/2014/main" id="{CF801994-9DCA-ADD7-E37A-47B8475F1A33}"/>
              </a:ext>
            </a:extLst>
          </p:cNvPr>
          <p:cNvPicPr>
            <a:picLocks noChangeAspect="1"/>
          </p:cNvPicPr>
          <p:nvPr/>
        </p:nvPicPr>
        <p:blipFill>
          <a:blip r:embed="rId2"/>
          <a:stretch>
            <a:fillRect/>
          </a:stretch>
        </p:blipFill>
        <p:spPr>
          <a:xfrm>
            <a:off x="1999076" y="2290368"/>
            <a:ext cx="8393924" cy="4020279"/>
          </a:xfrm>
          <a:prstGeom prst="rect">
            <a:avLst/>
          </a:prstGeom>
        </p:spPr>
      </p:pic>
    </p:spTree>
    <p:extLst>
      <p:ext uri="{BB962C8B-B14F-4D97-AF65-F5344CB8AC3E}">
        <p14:creationId xmlns:p14="http://schemas.microsoft.com/office/powerpoint/2010/main" val="263411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2D7882F-E38D-55D3-208A-6435749327C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3251C04-4FD7-D89A-3B80-9B50811B8964}"/>
              </a:ext>
            </a:extLst>
          </p:cNvPr>
          <p:cNvSpPr>
            <a:spLocks noGrp="1"/>
          </p:cNvSpPr>
          <p:nvPr>
            <p:ph type="title"/>
          </p:nvPr>
        </p:nvSpPr>
        <p:spPr>
          <a:xfrm>
            <a:off x="223104" y="0"/>
            <a:ext cx="10515600" cy="1325563"/>
          </a:xfrm>
        </p:spPr>
        <p:txBody>
          <a:bodyPr/>
          <a:lstStyle/>
          <a:p>
            <a:r>
              <a:rPr lang="en-US"/>
              <a:t>LSTM Methodology Overview</a:t>
            </a:r>
          </a:p>
        </p:txBody>
      </p:sp>
      <p:sp>
        <p:nvSpPr>
          <p:cNvPr id="2" name="TextBox 1">
            <a:extLst>
              <a:ext uri="{FF2B5EF4-FFF2-40B4-BE49-F238E27FC236}">
                <a16:creationId xmlns:a16="http://schemas.microsoft.com/office/drawing/2014/main" id="{9657522E-45AF-95BC-A916-6B8F10218B20}"/>
              </a:ext>
            </a:extLst>
          </p:cNvPr>
          <p:cNvSpPr txBox="1"/>
          <p:nvPr/>
        </p:nvSpPr>
        <p:spPr>
          <a:xfrm>
            <a:off x="646843" y="1211786"/>
            <a:ext cx="10898313" cy="5170646"/>
          </a:xfrm>
          <a:prstGeom prst="rect">
            <a:avLst/>
          </a:prstGeom>
          <a:noFill/>
        </p:spPr>
        <p:txBody>
          <a:bodyPr wrap="square" lIns="91440" tIns="45720" rIns="91440" bIns="45720" rtlCol="0" anchor="t">
            <a:spAutoFit/>
          </a:bodyPr>
          <a:lstStyle/>
          <a:p>
            <a:r>
              <a:rPr lang="en-US" sz="3000" i="1"/>
              <a:t>Selectively preserve or discard information across time steps via learned input, forget, and output gates</a:t>
            </a:r>
          </a:p>
          <a:p>
            <a:endParaRPr lang="en-US" sz="3000" b="1"/>
          </a:p>
          <a:p>
            <a:r>
              <a:rPr lang="en-US" sz="3000" b="1"/>
              <a:t>Two types of LSTM</a:t>
            </a:r>
          </a:p>
          <a:p>
            <a:pPr marL="457200" indent="-457200">
              <a:buFont typeface="Arial" panose="020B0604020202020204" pitchFamily="34" charset="0"/>
              <a:buChar char="•"/>
            </a:pPr>
            <a:r>
              <a:rPr lang="en-US" sz="3000" b="1" u="sng"/>
              <a:t>Sequential</a:t>
            </a:r>
            <a:r>
              <a:rPr lang="en-US" sz="3000" b="1"/>
              <a:t>:</a:t>
            </a:r>
            <a:r>
              <a:rPr lang="en-US" sz="3000"/>
              <a:t> train CNN, freeze weights, use it as a feature extractor</a:t>
            </a:r>
          </a:p>
          <a:p>
            <a:pPr marL="914400" lvl="1" indent="-457200">
              <a:buFont typeface="Arial" panose="020B0604020202020204" pitchFamily="34" charset="0"/>
              <a:buChar char="•"/>
            </a:pPr>
            <a:r>
              <a:rPr lang="en-US" sz="3000" b="1"/>
              <a:t>Problem:</a:t>
            </a:r>
            <a:r>
              <a:rPr lang="en-US" sz="3000"/>
              <a:t> CNN extracts from single 1-second window, might miss temporal patterns</a:t>
            </a:r>
          </a:p>
          <a:p>
            <a:pPr marL="457200" indent="-457200">
              <a:buFont typeface="Arial" panose="020B0604020202020204" pitchFamily="34" charset="0"/>
              <a:buChar char="•"/>
            </a:pPr>
            <a:r>
              <a:rPr lang="en-US" sz="3000" b="1" u="sng"/>
              <a:t>End-to-end:</a:t>
            </a:r>
            <a:r>
              <a:rPr lang="en-US" sz="3000"/>
              <a:t> train CNN and LSTM at same time</a:t>
            </a:r>
          </a:p>
          <a:p>
            <a:pPr marL="914400" lvl="1" indent="-457200">
              <a:buFont typeface="Arial" panose="020B0604020202020204" pitchFamily="34" charset="0"/>
              <a:buChar char="•"/>
            </a:pPr>
            <a:r>
              <a:rPr lang="en-US" sz="3000" b="1"/>
              <a:t>Benefit:</a:t>
            </a:r>
            <a:r>
              <a:rPr lang="en-US" sz="3000"/>
              <a:t> back propagation can give feedback to CNN </a:t>
            </a:r>
          </a:p>
          <a:p>
            <a:pPr marL="914400" lvl="1" indent="-457200">
              <a:buFont typeface="Arial" panose="020B0604020202020204" pitchFamily="34" charset="0"/>
              <a:buChar char="•"/>
            </a:pPr>
            <a:r>
              <a:rPr lang="en-US" sz="3000" b="1"/>
              <a:t>We picked this one.</a:t>
            </a:r>
          </a:p>
        </p:txBody>
      </p:sp>
    </p:spTree>
    <p:extLst>
      <p:ext uri="{BB962C8B-B14F-4D97-AF65-F5344CB8AC3E}">
        <p14:creationId xmlns:p14="http://schemas.microsoft.com/office/powerpoint/2010/main" val="2077160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B47EFB-DE2C-42CD-53D7-97F8025BCA5C}"/>
            </a:ext>
          </a:extLst>
        </p:cNvPr>
        <p:cNvGrpSpPr/>
        <p:nvPr/>
      </p:nvGrpSpPr>
      <p:grpSpPr>
        <a:xfrm>
          <a:off x="0" y="0"/>
          <a:ext cx="0" cy="0"/>
          <a:chOff x="0" y="0"/>
          <a:chExt cx="0" cy="0"/>
        </a:xfrm>
      </p:grpSpPr>
      <p:sp useBgFill="1">
        <p:nvSpPr>
          <p:cNvPr id="2074" name="Rectangle 2073">
            <a:extLst>
              <a:ext uri="{FF2B5EF4-FFF2-40B4-BE49-F238E27FC236}">
                <a16:creationId xmlns:a16="http://schemas.microsoft.com/office/drawing/2014/main" id="{42558A07-D6F3-4FA4-2448-C6503BAD6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3C7165-D489-5A46-B643-5518BA348781}"/>
              </a:ext>
            </a:extLst>
          </p:cNvPr>
          <p:cNvSpPr>
            <a:spLocks noGrp="1"/>
          </p:cNvSpPr>
          <p:nvPr>
            <p:ph type="title"/>
          </p:nvPr>
        </p:nvSpPr>
        <p:spPr>
          <a:xfrm>
            <a:off x="28575" y="-252099"/>
            <a:ext cx="9795638" cy="1114380"/>
          </a:xfrm>
        </p:spPr>
        <p:txBody>
          <a:bodyPr vert="horz" lIns="91440" tIns="45720" rIns="91440" bIns="45720" rtlCol="0" anchor="b">
            <a:normAutofit/>
          </a:bodyPr>
          <a:lstStyle/>
          <a:p>
            <a:r>
              <a:rPr lang="en-US" sz="5200"/>
              <a:t>Experimental Design</a:t>
            </a:r>
          </a:p>
        </p:txBody>
      </p:sp>
      <p:sp>
        <p:nvSpPr>
          <p:cNvPr id="9" name="TextBox 8">
            <a:extLst>
              <a:ext uri="{FF2B5EF4-FFF2-40B4-BE49-F238E27FC236}">
                <a16:creationId xmlns:a16="http://schemas.microsoft.com/office/drawing/2014/main" id="{4853E6AE-7496-D488-61CE-7B6ED6227727}"/>
              </a:ext>
            </a:extLst>
          </p:cNvPr>
          <p:cNvSpPr txBox="1"/>
          <p:nvPr/>
        </p:nvSpPr>
        <p:spPr>
          <a:xfrm>
            <a:off x="220219" y="733692"/>
            <a:ext cx="11066906" cy="3785652"/>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3000" dirty="0"/>
              <a:t>Dataset is very unbalanced (~85% normal vs. 15% seizure) </a:t>
            </a:r>
          </a:p>
          <a:p>
            <a:pPr marL="457200" indent="-457200">
              <a:buFont typeface="Arial" panose="020B0604020202020204" pitchFamily="34" charset="0"/>
              <a:buChar char="•"/>
            </a:pPr>
            <a:r>
              <a:rPr lang="en-US" sz="3000" dirty="0"/>
              <a:t>3 × 2 × 2 design for different stress testing</a:t>
            </a:r>
          </a:p>
          <a:p>
            <a:pPr marL="914400" lvl="1" indent="-457200">
              <a:buFont typeface="Arial" panose="020B0604020202020204" pitchFamily="34" charset="0"/>
              <a:buChar char="•"/>
            </a:pPr>
            <a:r>
              <a:rPr lang="en-US" sz="3000" dirty="0"/>
              <a:t>3 data splits (Window vs. Seizure vs. Patient)</a:t>
            </a:r>
          </a:p>
          <a:p>
            <a:pPr marL="914400" lvl="1" indent="-457200">
              <a:buFont typeface="Arial" panose="020B0604020202020204" pitchFamily="34" charset="0"/>
              <a:buChar char="•"/>
            </a:pPr>
            <a:r>
              <a:rPr lang="en-US" sz="3000" dirty="0"/>
              <a:t>2 training modes (50-50 Balanced vs. 80-20 Unbalanced) </a:t>
            </a:r>
          </a:p>
          <a:p>
            <a:pPr marL="914400" lvl="1" indent="-457200">
              <a:buFont typeface="Arial" panose="020B0604020202020204" pitchFamily="34" charset="0"/>
              <a:buChar char="•"/>
            </a:pPr>
            <a:r>
              <a:rPr lang="en-US" sz="3000" dirty="0"/>
              <a:t>2 testing modes (50-50 Balanced vs. 80-20 Unbalanced)</a:t>
            </a:r>
          </a:p>
          <a:p>
            <a:pPr lvl="1"/>
            <a:endParaRPr lang="en-US" sz="3000" dirty="0"/>
          </a:p>
          <a:p>
            <a:pPr marL="457200" indent="-457200">
              <a:buFont typeface="Arial" panose="020B0604020202020204" pitchFamily="34" charset="0"/>
              <a:buChar char="•"/>
            </a:pPr>
            <a:endParaRPr lang="en-US" sz="3000" dirty="0"/>
          </a:p>
          <a:p>
            <a:pPr marL="457200" indent="-457200">
              <a:buFont typeface="Arial" panose="020B0604020202020204" pitchFamily="34" charset="0"/>
              <a:buChar char="•"/>
            </a:pPr>
            <a:endParaRPr lang="en-US" sz="3000" dirty="0"/>
          </a:p>
        </p:txBody>
      </p:sp>
      <p:pic>
        <p:nvPicPr>
          <p:cNvPr id="3" name="Picture 2" descr="A diagram of a train&#10;&#10;AI-generated content may be incorrect.">
            <a:extLst>
              <a:ext uri="{FF2B5EF4-FFF2-40B4-BE49-F238E27FC236}">
                <a16:creationId xmlns:a16="http://schemas.microsoft.com/office/drawing/2014/main" id="{69E516BE-305B-69F1-353E-2CDE850F4018}"/>
              </a:ext>
            </a:extLst>
          </p:cNvPr>
          <p:cNvPicPr>
            <a:picLocks noChangeAspect="1"/>
          </p:cNvPicPr>
          <p:nvPr/>
        </p:nvPicPr>
        <p:blipFill>
          <a:blip r:embed="rId2"/>
          <a:stretch>
            <a:fillRect/>
          </a:stretch>
        </p:blipFill>
        <p:spPr>
          <a:xfrm>
            <a:off x="2490184" y="3114691"/>
            <a:ext cx="7208582" cy="3743309"/>
          </a:xfrm>
          <a:prstGeom prst="rect">
            <a:avLst/>
          </a:prstGeom>
        </p:spPr>
      </p:pic>
    </p:spTree>
    <p:extLst>
      <p:ext uri="{BB962C8B-B14F-4D97-AF65-F5344CB8AC3E}">
        <p14:creationId xmlns:p14="http://schemas.microsoft.com/office/powerpoint/2010/main" val="3394601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F7927C-1793-BE87-48EB-73E8FA9DCC0F}"/>
            </a:ext>
          </a:extLst>
        </p:cNvPr>
        <p:cNvGrpSpPr/>
        <p:nvPr/>
      </p:nvGrpSpPr>
      <p:grpSpPr>
        <a:xfrm>
          <a:off x="0" y="0"/>
          <a:ext cx="0" cy="0"/>
          <a:chOff x="0" y="0"/>
          <a:chExt cx="0" cy="0"/>
        </a:xfrm>
      </p:grpSpPr>
      <p:sp useBgFill="1">
        <p:nvSpPr>
          <p:cNvPr id="2074" name="Rectangle 2073">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57B110-D5D4-F42D-4362-9F13761A2AC9}"/>
              </a:ext>
            </a:extLst>
          </p:cNvPr>
          <p:cNvSpPr>
            <a:spLocks noGrp="1"/>
          </p:cNvSpPr>
          <p:nvPr>
            <p:ph type="title"/>
          </p:nvPr>
        </p:nvSpPr>
        <p:spPr>
          <a:xfrm>
            <a:off x="282256" y="-16373"/>
            <a:ext cx="9795638" cy="1114380"/>
          </a:xfrm>
        </p:spPr>
        <p:txBody>
          <a:bodyPr vert="horz" lIns="91440" tIns="45720" rIns="91440" bIns="45720" rtlCol="0" anchor="b">
            <a:normAutofit/>
          </a:bodyPr>
          <a:lstStyle/>
          <a:p>
            <a:r>
              <a:rPr lang="en-US" sz="5200"/>
              <a:t>CNN Steps</a:t>
            </a:r>
          </a:p>
        </p:txBody>
      </p:sp>
      <p:sp>
        <p:nvSpPr>
          <p:cNvPr id="9" name="TextBox 8">
            <a:extLst>
              <a:ext uri="{FF2B5EF4-FFF2-40B4-BE49-F238E27FC236}">
                <a16:creationId xmlns:a16="http://schemas.microsoft.com/office/drawing/2014/main" id="{F37D45D0-81CB-7E09-4D17-7E26DC899661}"/>
              </a:ext>
            </a:extLst>
          </p:cNvPr>
          <p:cNvSpPr txBox="1"/>
          <p:nvPr/>
        </p:nvSpPr>
        <p:spPr>
          <a:xfrm>
            <a:off x="561022" y="1114380"/>
            <a:ext cx="11066906" cy="5863144"/>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500" b="1" dirty="0"/>
              <a:t>Step 1: Pre-process </a:t>
            </a:r>
          </a:p>
          <a:p>
            <a:pPr marL="914400" lvl="1" indent="-457200">
              <a:buFont typeface="Arial" panose="020B0604020202020204" pitchFamily="34" charset="0"/>
              <a:buChar char="•"/>
            </a:pPr>
            <a:r>
              <a:rPr lang="en-US" sz="2500" dirty="0"/>
              <a:t>Z-score normalization: dynamically per fold rather than globally (avoids leakage)</a:t>
            </a:r>
          </a:p>
          <a:p>
            <a:pPr marL="914400" lvl="1" indent="-457200">
              <a:buFont typeface="Arial" panose="020B0604020202020204" pitchFamily="34" charset="0"/>
              <a:buChar char="•"/>
            </a:pPr>
            <a:r>
              <a:rPr lang="en-US" sz="2500" dirty="0"/>
              <a:t>Class balancing for both train and test </a:t>
            </a:r>
          </a:p>
          <a:p>
            <a:pPr marL="914400" lvl="1" indent="-457200">
              <a:buFont typeface="Arial" panose="020B0604020202020204" pitchFamily="34" charset="0"/>
              <a:buChar char="•"/>
            </a:pPr>
            <a:endParaRPr lang="en-US" sz="2500" dirty="0"/>
          </a:p>
          <a:p>
            <a:pPr marL="457200" indent="-457200">
              <a:buFont typeface="Arial" panose="020B0604020202020204" pitchFamily="34" charset="0"/>
              <a:buChar char="•"/>
            </a:pPr>
            <a:r>
              <a:rPr lang="en-US" sz="2500" b="1" dirty="0"/>
              <a:t>Step 2: Training	</a:t>
            </a:r>
          </a:p>
          <a:p>
            <a:pPr marL="914400" lvl="1" indent="-457200">
              <a:buFont typeface="Arial" panose="020B0604020202020204" pitchFamily="34" charset="0"/>
              <a:buChar char="•"/>
            </a:pPr>
            <a:r>
              <a:rPr lang="en-US" sz="2500" dirty="0"/>
              <a:t>Conv1d: “early channel fusion” – looks 1-dimensionally at all 21 EEG electrodes simultaneously</a:t>
            </a:r>
          </a:p>
          <a:p>
            <a:pPr marL="914400" lvl="1" indent="-457200">
              <a:buFont typeface="Arial" panose="020B0604020202020204" pitchFamily="34" charset="0"/>
              <a:buChar char="•"/>
            </a:pPr>
            <a:r>
              <a:rPr lang="en-US" sz="2500" dirty="0"/>
              <a:t>2 training modes (50-50 Balanced vs. 80-20 Unbalanced) </a:t>
            </a:r>
          </a:p>
          <a:p>
            <a:pPr marL="914400" lvl="1" indent="-457200">
              <a:buFont typeface="Arial" panose="020B0604020202020204" pitchFamily="34" charset="0"/>
              <a:buChar char="•"/>
            </a:pPr>
            <a:r>
              <a:rPr lang="en-US" sz="2500" dirty="0"/>
              <a:t>Split data over 10 shards due to size</a:t>
            </a:r>
          </a:p>
          <a:p>
            <a:pPr lvl="1"/>
            <a:endParaRPr lang="en-US" sz="2500" dirty="0"/>
          </a:p>
          <a:p>
            <a:pPr marL="457200" indent="-457200">
              <a:buFont typeface="Arial" panose="020B0604020202020204" pitchFamily="34" charset="0"/>
              <a:buChar char="•"/>
            </a:pPr>
            <a:r>
              <a:rPr lang="en-US" sz="2500" b="1" dirty="0"/>
              <a:t>Step 3: Classification (window, seizure, patient)</a:t>
            </a:r>
          </a:p>
          <a:p>
            <a:pPr marL="914400" lvl="1" indent="-457200">
              <a:buFont typeface="Arial" panose="020B0604020202020204" pitchFamily="34" charset="0"/>
              <a:buChar char="•"/>
            </a:pPr>
            <a:r>
              <a:rPr lang="en-US" sz="2500" dirty="0"/>
              <a:t>Test with both balanced and unbalanced sets</a:t>
            </a:r>
          </a:p>
          <a:p>
            <a:pPr marL="457200" indent="-457200">
              <a:buFont typeface="Arial" panose="020B0604020202020204" pitchFamily="34" charset="0"/>
              <a:buChar char="•"/>
            </a:pPr>
            <a:endParaRPr lang="en-US" sz="2500" dirty="0"/>
          </a:p>
          <a:p>
            <a:pPr marL="457200" indent="-457200">
              <a:buFont typeface="Arial" panose="020B0604020202020204" pitchFamily="34" charset="0"/>
              <a:buChar char="•"/>
            </a:pPr>
            <a:endParaRPr lang="en-US" sz="2500" dirty="0"/>
          </a:p>
        </p:txBody>
      </p:sp>
    </p:spTree>
    <p:extLst>
      <p:ext uri="{BB962C8B-B14F-4D97-AF65-F5344CB8AC3E}">
        <p14:creationId xmlns:p14="http://schemas.microsoft.com/office/powerpoint/2010/main" val="212096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B76860-8150-C912-F325-FF693B9E3E5E}"/>
            </a:ext>
          </a:extLst>
        </p:cNvPr>
        <p:cNvGrpSpPr/>
        <p:nvPr/>
      </p:nvGrpSpPr>
      <p:grpSpPr>
        <a:xfrm>
          <a:off x="0" y="0"/>
          <a:ext cx="0" cy="0"/>
          <a:chOff x="0" y="0"/>
          <a:chExt cx="0" cy="0"/>
        </a:xfrm>
      </p:grpSpPr>
      <p:sp useBgFill="1">
        <p:nvSpPr>
          <p:cNvPr id="2074" name="Rectangle 2073">
            <a:extLst>
              <a:ext uri="{FF2B5EF4-FFF2-40B4-BE49-F238E27FC236}">
                <a16:creationId xmlns:a16="http://schemas.microsoft.com/office/drawing/2014/main" id="{D78620D4-9757-4387-E662-CCE83F9BBD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68C637-7452-6E81-2C41-C2C559BB25D8}"/>
              </a:ext>
            </a:extLst>
          </p:cNvPr>
          <p:cNvSpPr>
            <a:spLocks noGrp="1"/>
          </p:cNvSpPr>
          <p:nvPr>
            <p:ph type="title"/>
          </p:nvPr>
        </p:nvSpPr>
        <p:spPr>
          <a:xfrm>
            <a:off x="282256" y="-232273"/>
            <a:ext cx="9795638" cy="1114380"/>
          </a:xfrm>
        </p:spPr>
        <p:txBody>
          <a:bodyPr vert="horz" lIns="91440" tIns="45720" rIns="91440" bIns="45720" rtlCol="0" anchor="b">
            <a:normAutofit/>
          </a:bodyPr>
          <a:lstStyle/>
          <a:p>
            <a:r>
              <a:rPr lang="en-US" sz="5200"/>
              <a:t>LSTM Steps</a:t>
            </a:r>
          </a:p>
        </p:txBody>
      </p:sp>
      <p:sp>
        <p:nvSpPr>
          <p:cNvPr id="9" name="TextBox 8">
            <a:extLst>
              <a:ext uri="{FF2B5EF4-FFF2-40B4-BE49-F238E27FC236}">
                <a16:creationId xmlns:a16="http://schemas.microsoft.com/office/drawing/2014/main" id="{293FD760-BD18-BB13-1AB2-69BA10B529FE}"/>
              </a:ext>
            </a:extLst>
          </p:cNvPr>
          <p:cNvSpPr txBox="1"/>
          <p:nvPr/>
        </p:nvSpPr>
        <p:spPr>
          <a:xfrm>
            <a:off x="751522" y="835022"/>
            <a:ext cx="11066906" cy="6247864"/>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500" b="1"/>
              <a:t>Step 1: Pre-process (Sequence Generation)</a:t>
            </a:r>
          </a:p>
          <a:p>
            <a:pPr marL="914400" lvl="1" indent="-457200">
              <a:buFont typeface="Arial" panose="020B0604020202020204" pitchFamily="34" charset="0"/>
              <a:buChar char="•"/>
            </a:pPr>
            <a:r>
              <a:rPr lang="en-US" sz="2500"/>
              <a:t>Temporal sequencing: data grouped into chronological sequences of 8 consecutive sliding windows</a:t>
            </a:r>
          </a:p>
          <a:p>
            <a:pPr lvl="1"/>
            <a:endParaRPr lang="en-US" sz="2500"/>
          </a:p>
          <a:p>
            <a:pPr marL="457200" indent="-457200">
              <a:buFont typeface="Arial" panose="020B0604020202020204" pitchFamily="34" charset="0"/>
              <a:buChar char="•"/>
            </a:pPr>
            <a:r>
              <a:rPr lang="en-US" sz="2500" b="1"/>
              <a:t>Step 2: Training	</a:t>
            </a:r>
          </a:p>
          <a:p>
            <a:pPr marL="914400" lvl="1" indent="-457200">
              <a:buFont typeface="Arial" panose="020B0604020202020204" pitchFamily="34" charset="0"/>
              <a:buChar char="•"/>
            </a:pPr>
            <a:r>
              <a:rPr lang="en-US" sz="2500" b="1"/>
              <a:t>CNN Feature Extraction</a:t>
            </a:r>
            <a:r>
              <a:rPr lang="en-US" sz="2500"/>
              <a:t>: uses same Conv1d method to compress 21 electrodes into spatial feature vector.</a:t>
            </a:r>
          </a:p>
          <a:p>
            <a:pPr marL="914400" lvl="1" indent="-457200">
              <a:buFont typeface="Arial" panose="020B0604020202020204" pitchFamily="34" charset="0"/>
              <a:buChar char="•"/>
            </a:pPr>
            <a:r>
              <a:rPr lang="en-US" sz="2500" b="1"/>
              <a:t>Temporal Aggregation (LSTM): </a:t>
            </a:r>
            <a:r>
              <a:rPr lang="en-US" sz="2500"/>
              <a:t>reads sequence of 8 feature vectors to model brainwave evolution over time.</a:t>
            </a:r>
          </a:p>
          <a:p>
            <a:pPr marL="914400" lvl="1" indent="-457200">
              <a:buFont typeface="Arial" panose="020B0604020202020204" pitchFamily="34" charset="0"/>
              <a:buChar char="•"/>
            </a:pPr>
            <a:r>
              <a:rPr lang="en-US" sz="2500" b="1"/>
              <a:t>Joint Optimization: </a:t>
            </a:r>
            <a:r>
              <a:rPr lang="en-US" sz="2500"/>
              <a:t>CNN and LSTM are trained simultaneously (end-to-end) across 2 training modes (Balanced vs. 20-80)</a:t>
            </a:r>
          </a:p>
          <a:p>
            <a:pPr lvl="1"/>
            <a:endParaRPr lang="en-US" sz="2500"/>
          </a:p>
          <a:p>
            <a:pPr marL="457200" indent="-457200">
              <a:buFont typeface="Arial" panose="020B0604020202020204" pitchFamily="34" charset="0"/>
              <a:buChar char="•"/>
            </a:pPr>
            <a:r>
              <a:rPr lang="en-US" sz="2500" b="1"/>
              <a:t>Step 3: Classification (window, seizure, patient)</a:t>
            </a:r>
          </a:p>
          <a:p>
            <a:pPr marL="914400" lvl="1" indent="-457200">
              <a:buFont typeface="Arial" panose="020B0604020202020204" pitchFamily="34" charset="0"/>
              <a:buChar char="•"/>
            </a:pPr>
            <a:r>
              <a:rPr lang="en-US" sz="2500"/>
              <a:t>Test with both balanced and unbalanced sets</a:t>
            </a:r>
          </a:p>
          <a:p>
            <a:pPr marL="457200" indent="-457200">
              <a:buFont typeface="Arial" panose="020B0604020202020204" pitchFamily="34" charset="0"/>
              <a:buChar char="•"/>
            </a:pPr>
            <a:endParaRPr lang="en-US" sz="2500"/>
          </a:p>
          <a:p>
            <a:pPr marL="457200" indent="-457200">
              <a:buFont typeface="Arial" panose="020B0604020202020204" pitchFamily="34" charset="0"/>
              <a:buChar char="•"/>
            </a:pPr>
            <a:endParaRPr lang="en-US" sz="2500"/>
          </a:p>
        </p:txBody>
      </p:sp>
    </p:spTree>
    <p:extLst>
      <p:ext uri="{BB962C8B-B14F-4D97-AF65-F5344CB8AC3E}">
        <p14:creationId xmlns:p14="http://schemas.microsoft.com/office/powerpoint/2010/main" val="1774485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564C54-8C2D-11BA-AC0A-535DE9F3953E}"/>
            </a:ext>
          </a:extLst>
        </p:cNvPr>
        <p:cNvGrpSpPr/>
        <p:nvPr/>
      </p:nvGrpSpPr>
      <p:grpSpPr>
        <a:xfrm>
          <a:off x="0" y="0"/>
          <a:ext cx="0" cy="0"/>
          <a:chOff x="0" y="0"/>
          <a:chExt cx="0" cy="0"/>
        </a:xfrm>
      </p:grpSpPr>
      <p:pic>
        <p:nvPicPr>
          <p:cNvPr id="3" name="Picture 2" descr="A graph of a person and person&#10;&#10;AI-generated content may be incorrect.">
            <a:extLst>
              <a:ext uri="{FF2B5EF4-FFF2-40B4-BE49-F238E27FC236}">
                <a16:creationId xmlns:a16="http://schemas.microsoft.com/office/drawing/2014/main" id="{59904094-760E-E983-E30D-23A1462360CD}"/>
              </a:ext>
            </a:extLst>
          </p:cNvPr>
          <p:cNvPicPr>
            <a:picLocks noChangeAspect="1"/>
          </p:cNvPicPr>
          <p:nvPr/>
        </p:nvPicPr>
        <p:blipFill>
          <a:blip r:embed="rId2"/>
          <a:stretch>
            <a:fillRect/>
          </a:stretch>
        </p:blipFill>
        <p:spPr>
          <a:xfrm>
            <a:off x="605022" y="789938"/>
            <a:ext cx="7394823" cy="2982913"/>
          </a:xfrm>
          <a:prstGeom prst="rect">
            <a:avLst/>
          </a:prstGeom>
        </p:spPr>
      </p:pic>
      <p:sp>
        <p:nvSpPr>
          <p:cNvPr id="2" name="Title 1">
            <a:extLst>
              <a:ext uri="{FF2B5EF4-FFF2-40B4-BE49-F238E27FC236}">
                <a16:creationId xmlns:a16="http://schemas.microsoft.com/office/drawing/2014/main" id="{243854AE-00DA-F028-BC22-254F014BA006}"/>
              </a:ext>
            </a:extLst>
          </p:cNvPr>
          <p:cNvSpPr>
            <a:spLocks noGrp="1"/>
          </p:cNvSpPr>
          <p:nvPr>
            <p:ph type="title"/>
          </p:nvPr>
        </p:nvSpPr>
        <p:spPr>
          <a:xfrm>
            <a:off x="145415" y="-157162"/>
            <a:ext cx="10515600" cy="1325563"/>
          </a:xfrm>
        </p:spPr>
        <p:txBody>
          <a:bodyPr>
            <a:normAutofit/>
          </a:bodyPr>
          <a:lstStyle/>
          <a:p>
            <a:r>
              <a:rPr lang="en-US" sz="4000"/>
              <a:t>Results: Training Process</a:t>
            </a:r>
          </a:p>
        </p:txBody>
      </p:sp>
      <p:pic>
        <p:nvPicPr>
          <p:cNvPr id="5" name="Picture 4" descr="A graph of a line and a line&#10;&#10;AI-generated content may be incorrect.">
            <a:extLst>
              <a:ext uri="{FF2B5EF4-FFF2-40B4-BE49-F238E27FC236}">
                <a16:creationId xmlns:a16="http://schemas.microsoft.com/office/drawing/2014/main" id="{90BDD98B-F905-FB6D-DC4D-534A0E3DF720}"/>
              </a:ext>
            </a:extLst>
          </p:cNvPr>
          <p:cNvPicPr>
            <a:picLocks noChangeAspect="1"/>
          </p:cNvPicPr>
          <p:nvPr/>
        </p:nvPicPr>
        <p:blipFill>
          <a:blip r:embed="rId3"/>
          <a:stretch>
            <a:fillRect/>
          </a:stretch>
        </p:blipFill>
        <p:spPr>
          <a:xfrm>
            <a:off x="516121" y="3772851"/>
            <a:ext cx="7394823" cy="2958278"/>
          </a:xfrm>
          <a:prstGeom prst="rect">
            <a:avLst/>
          </a:prstGeom>
        </p:spPr>
      </p:pic>
      <p:sp>
        <p:nvSpPr>
          <p:cNvPr id="6" name="TextBox 5">
            <a:extLst>
              <a:ext uri="{FF2B5EF4-FFF2-40B4-BE49-F238E27FC236}">
                <a16:creationId xmlns:a16="http://schemas.microsoft.com/office/drawing/2014/main" id="{11294636-EE96-35A6-7E6C-6381534C69C1}"/>
              </a:ext>
            </a:extLst>
          </p:cNvPr>
          <p:cNvSpPr txBox="1"/>
          <p:nvPr/>
        </p:nvSpPr>
        <p:spPr>
          <a:xfrm>
            <a:off x="7910944" y="1857629"/>
            <a:ext cx="4164349" cy="2862322"/>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3000"/>
              <a:t>CNN: peak AUC ~0.79  </a:t>
            </a:r>
          </a:p>
          <a:p>
            <a:pPr marL="457200" indent="-457200">
              <a:buFont typeface="Arial" panose="020B0604020202020204" pitchFamily="34" charset="0"/>
              <a:buChar char="•"/>
            </a:pPr>
            <a:r>
              <a:rPr lang="en-US" sz="3000"/>
              <a:t>LSTM: Training loss reduction much faster</a:t>
            </a:r>
          </a:p>
          <a:p>
            <a:endParaRPr lang="en-US" sz="3000"/>
          </a:p>
        </p:txBody>
      </p:sp>
    </p:spTree>
    <p:extLst>
      <p:ext uri="{BB962C8B-B14F-4D97-AF65-F5344CB8AC3E}">
        <p14:creationId xmlns:p14="http://schemas.microsoft.com/office/powerpoint/2010/main" val="2560845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E1568-1ADF-E14C-5869-6889CFE44164}"/>
              </a:ext>
            </a:extLst>
          </p:cNvPr>
          <p:cNvSpPr>
            <a:spLocks noGrp="1"/>
          </p:cNvSpPr>
          <p:nvPr>
            <p:ph type="title"/>
          </p:nvPr>
        </p:nvSpPr>
        <p:spPr>
          <a:xfrm>
            <a:off x="331152" y="0"/>
            <a:ext cx="10515600" cy="1325563"/>
          </a:xfrm>
        </p:spPr>
        <p:txBody>
          <a:bodyPr/>
          <a:lstStyle/>
          <a:p>
            <a:r>
              <a:rPr lang="en-US"/>
              <a:t>F1 Scores – 3 × 2 × 2 Scenario Comparison</a:t>
            </a:r>
          </a:p>
        </p:txBody>
      </p:sp>
      <p:pic>
        <p:nvPicPr>
          <p:cNvPr id="12" name="Picture 11" descr="A graph of different colored bars&#10;&#10;AI-generated content may be incorrect.">
            <a:extLst>
              <a:ext uri="{FF2B5EF4-FFF2-40B4-BE49-F238E27FC236}">
                <a16:creationId xmlns:a16="http://schemas.microsoft.com/office/drawing/2014/main" id="{ACB8BB64-728C-51D8-F705-6F15774D8C65}"/>
              </a:ext>
            </a:extLst>
          </p:cNvPr>
          <p:cNvPicPr>
            <a:picLocks noChangeAspect="1"/>
          </p:cNvPicPr>
          <p:nvPr/>
        </p:nvPicPr>
        <p:blipFill>
          <a:blip r:embed="rId3"/>
          <a:stretch>
            <a:fillRect/>
          </a:stretch>
        </p:blipFill>
        <p:spPr>
          <a:xfrm>
            <a:off x="331152" y="1054101"/>
            <a:ext cx="11630974" cy="4986657"/>
          </a:xfrm>
          <a:prstGeom prst="rect">
            <a:avLst/>
          </a:prstGeom>
        </p:spPr>
      </p:pic>
    </p:spTree>
    <p:extLst>
      <p:ext uri="{BB962C8B-B14F-4D97-AF65-F5344CB8AC3E}">
        <p14:creationId xmlns:p14="http://schemas.microsoft.com/office/powerpoint/2010/main" val="2238264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717D66-4AC0-ED9B-0F84-A29E0598D312}"/>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D1B8C3A7-3AB0-7918-D4FB-B395E05236E4}"/>
              </a:ext>
            </a:extLst>
          </p:cNvPr>
          <p:cNvPicPr>
            <a:picLocks noChangeAspect="1"/>
          </p:cNvPicPr>
          <p:nvPr/>
        </p:nvPicPr>
        <p:blipFill>
          <a:blip r:embed="rId3"/>
          <a:srcRect r="8328"/>
          <a:stretch>
            <a:fillRect/>
          </a:stretch>
        </p:blipFill>
        <p:spPr>
          <a:xfrm>
            <a:off x="21654" y="639199"/>
            <a:ext cx="11629582" cy="3077526"/>
          </a:xfrm>
          <a:prstGeom prst="rect">
            <a:avLst/>
          </a:prstGeom>
        </p:spPr>
      </p:pic>
      <p:sp>
        <p:nvSpPr>
          <p:cNvPr id="2" name="Title 1">
            <a:extLst>
              <a:ext uri="{FF2B5EF4-FFF2-40B4-BE49-F238E27FC236}">
                <a16:creationId xmlns:a16="http://schemas.microsoft.com/office/drawing/2014/main" id="{9B45C7BF-4B36-64E7-61F8-C10ABBE94294}"/>
              </a:ext>
            </a:extLst>
          </p:cNvPr>
          <p:cNvSpPr>
            <a:spLocks noGrp="1"/>
          </p:cNvSpPr>
          <p:nvPr>
            <p:ph type="title"/>
          </p:nvPr>
        </p:nvSpPr>
        <p:spPr>
          <a:xfrm>
            <a:off x="0" y="-319087"/>
            <a:ext cx="12065000" cy="1325563"/>
          </a:xfrm>
        </p:spPr>
        <p:txBody>
          <a:bodyPr/>
          <a:lstStyle/>
          <a:p>
            <a:r>
              <a:rPr lang="en-US"/>
              <a:t>F1 and ROC AUC: Key Insights</a:t>
            </a:r>
          </a:p>
        </p:txBody>
      </p:sp>
      <p:sp>
        <p:nvSpPr>
          <p:cNvPr id="4" name="TextBox 3">
            <a:extLst>
              <a:ext uri="{FF2B5EF4-FFF2-40B4-BE49-F238E27FC236}">
                <a16:creationId xmlns:a16="http://schemas.microsoft.com/office/drawing/2014/main" id="{6497745E-5C55-AA8E-7E2D-7FC11C596E3F}"/>
              </a:ext>
            </a:extLst>
          </p:cNvPr>
          <p:cNvSpPr txBox="1"/>
          <p:nvPr/>
        </p:nvSpPr>
        <p:spPr>
          <a:xfrm>
            <a:off x="499047" y="3810170"/>
            <a:ext cx="11066906" cy="3170099"/>
          </a:xfrm>
          <a:prstGeom prst="rect">
            <a:avLst/>
          </a:prstGeom>
          <a:noFill/>
        </p:spPr>
        <p:txBody>
          <a:bodyPr wrap="square" lIns="91440" tIns="45720" rIns="91440" bIns="45720" rtlCol="0" anchor="t">
            <a:spAutoFit/>
          </a:bodyPr>
          <a:lstStyle/>
          <a:p>
            <a:r>
              <a:rPr lang="en-US" sz="2000" b="1" dirty="0"/>
              <a:t>Interesting:</a:t>
            </a:r>
          </a:p>
          <a:p>
            <a:pPr marL="342900" indent="-342900">
              <a:buFont typeface="Arial" panose="020B0604020202020204" pitchFamily="34" charset="0"/>
              <a:buChar char="•"/>
            </a:pPr>
            <a:r>
              <a:rPr lang="en-US" sz="2000" dirty="0"/>
              <a:t>Training with </a:t>
            </a:r>
            <a:r>
              <a:rPr lang="en-US" sz="2000" b="1" dirty="0"/>
              <a:t>balanced</a:t>
            </a:r>
            <a:r>
              <a:rPr lang="en-US" sz="2000" dirty="0"/>
              <a:t> classes was slightly worse than training on </a:t>
            </a:r>
            <a:r>
              <a:rPr lang="en-US" sz="2000" b="1" dirty="0"/>
              <a:t>unbalanced </a:t>
            </a:r>
          </a:p>
          <a:p>
            <a:pPr marL="800100" lvl="1" indent="-342900">
              <a:buFont typeface="Arial" panose="020B0604020202020204" pitchFamily="34" charset="0"/>
              <a:buChar char="•"/>
            </a:pPr>
            <a:r>
              <a:rPr lang="en-US" sz="2000" dirty="0"/>
              <a:t>Contrary to common deep learning practices</a:t>
            </a:r>
          </a:p>
          <a:p>
            <a:endParaRPr lang="en-US" sz="2000" b="1" dirty="0"/>
          </a:p>
          <a:p>
            <a:r>
              <a:rPr lang="en-US" sz="2000" b="1" dirty="0"/>
              <a:t>Expected:</a:t>
            </a:r>
          </a:p>
          <a:p>
            <a:pPr marL="342900" indent="-342900">
              <a:buFont typeface="Arial" panose="020B0604020202020204" pitchFamily="34" charset="0"/>
              <a:buChar char="•"/>
            </a:pPr>
            <a:r>
              <a:rPr lang="en-US" sz="2000" dirty="0"/>
              <a:t>Fixing leakage led to consistently lower F1 and ROC AUC, but not statistically significant</a:t>
            </a:r>
          </a:p>
          <a:p>
            <a:pPr marL="342900" indent="-342900">
              <a:buFont typeface="Arial" panose="020B0604020202020204" pitchFamily="34" charset="0"/>
              <a:buChar char="•"/>
            </a:pPr>
            <a:r>
              <a:rPr lang="en-US" sz="2000" dirty="0"/>
              <a:t>For the same training mode: ROC AUC is relatively stable across unbalanced vs balanced test, but F1 score drops on unbalanced test (this is expected)</a:t>
            </a:r>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US" sz="2000" dirty="0"/>
          </a:p>
        </p:txBody>
      </p:sp>
      <p:grpSp>
        <p:nvGrpSpPr>
          <p:cNvPr id="10" name="Group 9">
            <a:extLst>
              <a:ext uri="{FF2B5EF4-FFF2-40B4-BE49-F238E27FC236}">
                <a16:creationId xmlns:a16="http://schemas.microsoft.com/office/drawing/2014/main" id="{B40F1D3D-E845-48C1-8BFB-63A63D661394}"/>
              </a:ext>
            </a:extLst>
          </p:cNvPr>
          <p:cNvGrpSpPr/>
          <p:nvPr/>
        </p:nvGrpSpPr>
        <p:grpSpPr>
          <a:xfrm>
            <a:off x="21653" y="2361600"/>
            <a:ext cx="11651235" cy="970439"/>
            <a:chOff x="-118187" y="1259795"/>
            <a:chExt cx="12383397" cy="1031421"/>
          </a:xfrm>
        </p:grpSpPr>
        <p:sp>
          <p:nvSpPr>
            <p:cNvPr id="6" name="Rectangle 5">
              <a:extLst>
                <a:ext uri="{FF2B5EF4-FFF2-40B4-BE49-F238E27FC236}">
                  <a16:creationId xmlns:a16="http://schemas.microsoft.com/office/drawing/2014/main" id="{3286AE4C-3B9E-33FE-8FD4-6D11D80FB691}"/>
                </a:ext>
              </a:extLst>
            </p:cNvPr>
            <p:cNvSpPr/>
            <p:nvPr/>
          </p:nvSpPr>
          <p:spPr>
            <a:xfrm>
              <a:off x="-118187" y="1975532"/>
              <a:ext cx="12383397" cy="315684"/>
            </a:xfrm>
            <a:prstGeom prst="rect">
              <a:avLst/>
            </a:prstGeom>
            <a:solidFill>
              <a:srgbClr val="FFFF00">
                <a:alpha val="32941"/>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48CC76-B1CA-C47C-A333-8D37B46C0E50}"/>
                </a:ext>
              </a:extLst>
            </p:cNvPr>
            <p:cNvSpPr/>
            <p:nvPr/>
          </p:nvSpPr>
          <p:spPr>
            <a:xfrm>
              <a:off x="-118187" y="1259795"/>
              <a:ext cx="12383397" cy="315684"/>
            </a:xfrm>
            <a:prstGeom prst="rect">
              <a:avLst/>
            </a:prstGeom>
            <a:solidFill>
              <a:srgbClr val="FFFF00">
                <a:alpha val="32941"/>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D24B314D-0DD7-0B09-5850-22A20B6AED65}"/>
              </a:ext>
            </a:extLst>
          </p:cNvPr>
          <p:cNvGrpSpPr/>
          <p:nvPr/>
        </p:nvGrpSpPr>
        <p:grpSpPr>
          <a:xfrm>
            <a:off x="0" y="1006476"/>
            <a:ext cx="11651235" cy="970439"/>
            <a:chOff x="-118187" y="1259795"/>
            <a:chExt cx="12383397" cy="1031421"/>
          </a:xfrm>
        </p:grpSpPr>
        <p:sp>
          <p:nvSpPr>
            <p:cNvPr id="13" name="Rectangle 12">
              <a:extLst>
                <a:ext uri="{FF2B5EF4-FFF2-40B4-BE49-F238E27FC236}">
                  <a16:creationId xmlns:a16="http://schemas.microsoft.com/office/drawing/2014/main" id="{65BCAADE-B793-9EAC-C939-FFB41FF91EBB}"/>
                </a:ext>
              </a:extLst>
            </p:cNvPr>
            <p:cNvSpPr/>
            <p:nvPr/>
          </p:nvSpPr>
          <p:spPr>
            <a:xfrm>
              <a:off x="-118187" y="1975532"/>
              <a:ext cx="12383397" cy="315684"/>
            </a:xfrm>
            <a:prstGeom prst="rect">
              <a:avLst/>
            </a:prstGeom>
            <a:solidFill>
              <a:srgbClr val="FFFF00">
                <a:alpha val="32941"/>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95C0E5F-9B72-0B20-32C6-1549662EFD49}"/>
                </a:ext>
              </a:extLst>
            </p:cNvPr>
            <p:cNvSpPr/>
            <p:nvPr/>
          </p:nvSpPr>
          <p:spPr>
            <a:xfrm>
              <a:off x="-118187" y="1259795"/>
              <a:ext cx="12383397" cy="315684"/>
            </a:xfrm>
            <a:prstGeom prst="rect">
              <a:avLst/>
            </a:prstGeom>
            <a:solidFill>
              <a:srgbClr val="FFFF00">
                <a:alpha val="32941"/>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07566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6CBA4EB-329F-BFCA-B92A-F441C529F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EBE99-24D5-9589-E51F-8AB318E64223}"/>
              </a:ext>
            </a:extLst>
          </p:cNvPr>
          <p:cNvSpPr>
            <a:spLocks noGrp="1"/>
          </p:cNvSpPr>
          <p:nvPr>
            <p:ph type="title"/>
          </p:nvPr>
        </p:nvSpPr>
        <p:spPr>
          <a:xfrm>
            <a:off x="331152" y="0"/>
            <a:ext cx="10515600" cy="1325563"/>
          </a:xfrm>
        </p:spPr>
        <p:txBody>
          <a:bodyPr/>
          <a:lstStyle/>
          <a:p>
            <a:r>
              <a:rPr lang="en-US"/>
              <a:t>ROC-AUC Scores – 3 × 2 × 2 Scenarios</a:t>
            </a:r>
          </a:p>
        </p:txBody>
      </p:sp>
      <p:pic>
        <p:nvPicPr>
          <p:cNvPr id="3" name="Picture 2" descr="A graph of different colored bars&#10;&#10;AI-generated content may be incorrect.">
            <a:extLst>
              <a:ext uri="{FF2B5EF4-FFF2-40B4-BE49-F238E27FC236}">
                <a16:creationId xmlns:a16="http://schemas.microsoft.com/office/drawing/2014/main" id="{B30F0460-C559-C112-4D0A-16547E261267}"/>
              </a:ext>
            </a:extLst>
          </p:cNvPr>
          <p:cNvPicPr>
            <a:picLocks noChangeAspect="1"/>
          </p:cNvPicPr>
          <p:nvPr/>
        </p:nvPicPr>
        <p:blipFill>
          <a:blip r:embed="rId3"/>
          <a:stretch>
            <a:fillRect/>
          </a:stretch>
        </p:blipFill>
        <p:spPr>
          <a:xfrm>
            <a:off x="156201" y="1121092"/>
            <a:ext cx="12035799" cy="5065396"/>
          </a:xfrm>
          <a:prstGeom prst="rect">
            <a:avLst/>
          </a:prstGeom>
        </p:spPr>
      </p:pic>
    </p:spTree>
    <p:extLst>
      <p:ext uri="{BB962C8B-B14F-4D97-AF65-F5344CB8AC3E}">
        <p14:creationId xmlns:p14="http://schemas.microsoft.com/office/powerpoint/2010/main" val="246012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39AA16-2F4F-F75E-1175-EFFFB8DBE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A0621-7D01-3D9C-9FBD-76124A0535FB}"/>
              </a:ext>
            </a:extLst>
          </p:cNvPr>
          <p:cNvSpPr>
            <a:spLocks noGrp="1"/>
          </p:cNvSpPr>
          <p:nvPr>
            <p:ph type="title"/>
          </p:nvPr>
        </p:nvSpPr>
        <p:spPr>
          <a:xfrm>
            <a:off x="0" y="-319087"/>
            <a:ext cx="12065000" cy="1325563"/>
          </a:xfrm>
        </p:spPr>
        <p:txBody>
          <a:bodyPr/>
          <a:lstStyle/>
          <a:p>
            <a:r>
              <a:rPr lang="en-US"/>
              <a:t>Confusion Matrices: CNN vs LSTM</a:t>
            </a:r>
          </a:p>
        </p:txBody>
      </p:sp>
      <p:pic>
        <p:nvPicPr>
          <p:cNvPr id="3" name="Picture 2" descr="A screenshot of a graph&#10;&#10;AI-generated content may be incorrect.">
            <a:extLst>
              <a:ext uri="{FF2B5EF4-FFF2-40B4-BE49-F238E27FC236}">
                <a16:creationId xmlns:a16="http://schemas.microsoft.com/office/drawing/2014/main" id="{CAB8E395-4E4F-0960-CDC7-5478E09D5D45}"/>
              </a:ext>
            </a:extLst>
          </p:cNvPr>
          <p:cNvPicPr>
            <a:picLocks noChangeAspect="1"/>
          </p:cNvPicPr>
          <p:nvPr/>
        </p:nvPicPr>
        <p:blipFill>
          <a:blip r:embed="rId3" cstate="print">
            <a:extLst>
              <a:ext uri="{28A0092B-C50C-407E-A947-70E740481C1C}">
                <a14:useLocalDpi xmlns:a14="http://schemas.microsoft.com/office/drawing/2010/main" val="0"/>
              </a:ext>
            </a:extLst>
          </a:blip>
          <a:srcRect b="7028"/>
          <a:stretch>
            <a:fillRect/>
          </a:stretch>
        </p:blipFill>
        <p:spPr bwMode="auto">
          <a:xfrm>
            <a:off x="20733" y="3534347"/>
            <a:ext cx="11501455" cy="3429000"/>
          </a:xfrm>
          <a:prstGeom prst="rect">
            <a:avLst/>
          </a:prstGeom>
          <a:noFill/>
          <a:ln>
            <a:noFill/>
          </a:ln>
        </p:spPr>
      </p:pic>
      <p:pic>
        <p:nvPicPr>
          <p:cNvPr id="4" name="Picture 3">
            <a:extLst>
              <a:ext uri="{FF2B5EF4-FFF2-40B4-BE49-F238E27FC236}">
                <a16:creationId xmlns:a16="http://schemas.microsoft.com/office/drawing/2014/main" id="{71D082F4-BF2F-7457-FA4B-08505C7EA210}"/>
              </a:ext>
            </a:extLst>
          </p:cNvPr>
          <p:cNvPicPr>
            <a:picLocks noChangeAspect="1"/>
          </p:cNvPicPr>
          <p:nvPr/>
        </p:nvPicPr>
        <p:blipFill>
          <a:blip r:embed="rId4"/>
          <a:srcRect t="5040" b="4265"/>
          <a:stretch>
            <a:fillRect/>
          </a:stretch>
        </p:blipFill>
        <p:spPr>
          <a:xfrm>
            <a:off x="261910" y="519546"/>
            <a:ext cx="11019103" cy="3111336"/>
          </a:xfrm>
          <a:prstGeom prst="rect">
            <a:avLst/>
          </a:prstGeom>
        </p:spPr>
      </p:pic>
    </p:spTree>
    <p:extLst>
      <p:ext uri="{BB962C8B-B14F-4D97-AF65-F5344CB8AC3E}">
        <p14:creationId xmlns:p14="http://schemas.microsoft.com/office/powerpoint/2010/main" val="1225510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853BB9C-D3D6-AA92-7DE0-9656595F6D2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AE18D62-A481-45AF-81BB-3843F670E937}"/>
              </a:ext>
            </a:extLst>
          </p:cNvPr>
          <p:cNvSpPr>
            <a:spLocks noGrp="1"/>
          </p:cNvSpPr>
          <p:nvPr>
            <p:ph type="title"/>
          </p:nvPr>
        </p:nvSpPr>
        <p:spPr/>
        <p:txBody>
          <a:bodyPr/>
          <a:lstStyle/>
          <a:p>
            <a:endParaRPr lang="en-US"/>
          </a:p>
        </p:txBody>
      </p:sp>
      <p:sp useBgFill="1">
        <p:nvSpPr>
          <p:cNvPr id="12" name="Rectangle 11">
            <a:extLst>
              <a:ext uri="{FF2B5EF4-FFF2-40B4-BE49-F238E27FC236}">
                <a16:creationId xmlns:a16="http://schemas.microsoft.com/office/drawing/2014/main" id="{F64B6237-6963-2FF0-2E0B-A66311716D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A471E82F-2587-8617-05D3-13A7D547D965}"/>
              </a:ext>
            </a:extLst>
          </p:cNvPr>
          <p:cNvSpPr txBox="1">
            <a:spLocks/>
          </p:cNvSpPr>
          <p:nvPr/>
        </p:nvSpPr>
        <p:spPr>
          <a:xfrm>
            <a:off x="167294" y="108118"/>
            <a:ext cx="9478981" cy="919788"/>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400"/>
              <a:t>Conclusion and Next Steps</a:t>
            </a:r>
          </a:p>
        </p:txBody>
      </p:sp>
      <p:sp>
        <p:nvSpPr>
          <p:cNvPr id="14" name="Content Placeholder 2">
            <a:extLst>
              <a:ext uri="{FF2B5EF4-FFF2-40B4-BE49-F238E27FC236}">
                <a16:creationId xmlns:a16="http://schemas.microsoft.com/office/drawing/2014/main" id="{47DCF28A-B93F-8E87-7A15-0AF6574F6680}"/>
              </a:ext>
            </a:extLst>
          </p:cNvPr>
          <p:cNvSpPr>
            <a:spLocks noGrp="1"/>
          </p:cNvSpPr>
          <p:nvPr>
            <p:ph idx="1"/>
          </p:nvPr>
        </p:nvSpPr>
        <p:spPr>
          <a:xfrm>
            <a:off x="517744" y="1136024"/>
            <a:ext cx="11156511" cy="5470838"/>
          </a:xfrm>
        </p:spPr>
        <p:txBody>
          <a:bodyPr vert="horz" lIns="91440" tIns="45720" rIns="91440" bIns="45720" rtlCol="0" anchor="t">
            <a:noAutofit/>
          </a:bodyPr>
          <a:lstStyle/>
          <a:p>
            <a:r>
              <a:rPr lang="es-ES" sz="2400" b="1" dirty="0">
                <a:ea typeface="+mn-lt"/>
                <a:cs typeface="+mn-lt"/>
              </a:rPr>
              <a:t>LSTM </a:t>
            </a:r>
            <a:r>
              <a:rPr lang="es-ES" sz="2400" dirty="0" err="1">
                <a:ea typeface="+mn-lt"/>
                <a:cs typeface="+mn-lt"/>
              </a:rPr>
              <a:t>performs</a:t>
            </a:r>
            <a:r>
              <a:rPr lang="es-ES" sz="2400" dirty="0">
                <a:ea typeface="+mn-lt"/>
                <a:cs typeface="+mn-lt"/>
              </a:rPr>
              <a:t> </a:t>
            </a:r>
            <a:r>
              <a:rPr lang="es-ES" sz="2400" dirty="0" err="1">
                <a:ea typeface="+mn-lt"/>
                <a:cs typeface="+mn-lt"/>
              </a:rPr>
              <a:t>substantially</a:t>
            </a:r>
            <a:r>
              <a:rPr lang="es-ES" sz="2400" dirty="0">
                <a:ea typeface="+mn-lt"/>
                <a:cs typeface="+mn-lt"/>
              </a:rPr>
              <a:t> </a:t>
            </a:r>
            <a:r>
              <a:rPr lang="es-ES" sz="2400" dirty="0" err="1">
                <a:ea typeface="+mn-lt"/>
                <a:cs typeface="+mn-lt"/>
              </a:rPr>
              <a:t>better</a:t>
            </a:r>
            <a:r>
              <a:rPr lang="es-ES" sz="2400" dirty="0">
                <a:ea typeface="+mn-lt"/>
                <a:cs typeface="+mn-lt"/>
              </a:rPr>
              <a:t>, at </a:t>
            </a:r>
            <a:r>
              <a:rPr lang="es-ES" sz="2400" dirty="0" err="1">
                <a:ea typeface="+mn-lt"/>
                <a:cs typeface="+mn-lt"/>
              </a:rPr>
              <a:t>cost</a:t>
            </a:r>
            <a:r>
              <a:rPr lang="es-ES" sz="2400" dirty="0">
                <a:ea typeface="+mn-lt"/>
                <a:cs typeface="+mn-lt"/>
              </a:rPr>
              <a:t> (</a:t>
            </a:r>
            <a:r>
              <a:rPr lang="es-ES" sz="2400" dirty="0" err="1">
                <a:ea typeface="+mn-lt"/>
                <a:cs typeface="+mn-lt"/>
              </a:rPr>
              <a:t>computational</a:t>
            </a:r>
            <a:r>
              <a:rPr lang="es-ES" sz="2400" dirty="0">
                <a:ea typeface="+mn-lt"/>
                <a:cs typeface="+mn-lt"/>
              </a:rPr>
              <a:t>)</a:t>
            </a:r>
            <a:endParaRPr lang="es-ES" sz="2400" b="1" dirty="0">
              <a:ea typeface="+mn-lt"/>
              <a:cs typeface="+mn-lt"/>
            </a:endParaRPr>
          </a:p>
          <a:p>
            <a:r>
              <a:rPr lang="es-ES" sz="2400" b="1" dirty="0">
                <a:ea typeface="+mn-lt"/>
                <a:cs typeface="+mn-lt"/>
              </a:rPr>
              <a:t>Next </a:t>
            </a:r>
            <a:r>
              <a:rPr lang="es-ES" sz="2400" b="1" dirty="0" err="1">
                <a:ea typeface="+mn-lt"/>
                <a:cs typeface="+mn-lt"/>
              </a:rPr>
              <a:t>steps</a:t>
            </a:r>
            <a:r>
              <a:rPr lang="es-ES" sz="2400" b="1" dirty="0">
                <a:ea typeface="+mn-lt"/>
                <a:cs typeface="+mn-lt"/>
              </a:rPr>
              <a:t>: </a:t>
            </a:r>
            <a:r>
              <a:rPr lang="es-ES" sz="2400" b="1" dirty="0" err="1">
                <a:ea typeface="+mn-lt"/>
                <a:cs typeface="+mn-lt"/>
              </a:rPr>
              <a:t>transformer</a:t>
            </a:r>
            <a:r>
              <a:rPr lang="es-ES" sz="2400" b="1" dirty="0">
                <a:ea typeface="+mn-lt"/>
                <a:cs typeface="+mn-lt"/>
              </a:rPr>
              <a:t> </a:t>
            </a:r>
            <a:r>
              <a:rPr lang="es-ES" sz="2400" b="1" dirty="0" err="1">
                <a:ea typeface="+mn-lt"/>
                <a:cs typeface="+mn-lt"/>
              </a:rPr>
              <a:t>model</a:t>
            </a:r>
            <a:endParaRPr lang="es-ES" sz="2400" b="1" dirty="0">
              <a:ea typeface="+mn-lt"/>
              <a:cs typeface="+mn-lt"/>
            </a:endParaRPr>
          </a:p>
          <a:p>
            <a:pPr lvl="1"/>
            <a:r>
              <a:rPr lang="es-ES" b="1" dirty="0">
                <a:ea typeface="+mn-lt"/>
                <a:cs typeface="+mn-lt"/>
              </a:rPr>
              <a:t>LSTM = </a:t>
            </a:r>
            <a:r>
              <a:rPr lang="es-ES" b="1" dirty="0" err="1">
                <a:ea typeface="+mn-lt"/>
                <a:cs typeface="+mn-lt"/>
              </a:rPr>
              <a:t>detection</a:t>
            </a:r>
            <a:r>
              <a:rPr lang="es-ES" b="1" dirty="0">
                <a:ea typeface="+mn-lt"/>
                <a:cs typeface="+mn-lt"/>
              </a:rPr>
              <a:t>, </a:t>
            </a:r>
            <a:r>
              <a:rPr lang="es-ES" b="1" dirty="0" err="1">
                <a:ea typeface="+mn-lt"/>
                <a:cs typeface="+mn-lt"/>
              </a:rPr>
              <a:t>transformer</a:t>
            </a:r>
            <a:r>
              <a:rPr lang="es-ES" b="1" dirty="0">
                <a:ea typeface="+mn-lt"/>
                <a:cs typeface="+mn-lt"/>
              </a:rPr>
              <a:t> = </a:t>
            </a:r>
            <a:r>
              <a:rPr lang="es-ES" b="1" dirty="0" err="1">
                <a:ea typeface="+mn-lt"/>
                <a:cs typeface="+mn-lt"/>
              </a:rPr>
              <a:t>prediction</a:t>
            </a:r>
            <a:endParaRPr lang="es-ES" b="1" dirty="0">
              <a:ea typeface="+mn-lt"/>
              <a:cs typeface="+mn-lt"/>
            </a:endParaRPr>
          </a:p>
          <a:p>
            <a:pPr lvl="1"/>
            <a:r>
              <a:rPr lang="es-ES" dirty="0" err="1">
                <a:ea typeface="+mn-lt"/>
                <a:cs typeface="+mn-lt"/>
              </a:rPr>
              <a:t>Nonlinear</a:t>
            </a:r>
            <a:r>
              <a:rPr lang="es-ES" dirty="0">
                <a:ea typeface="+mn-lt"/>
                <a:cs typeface="+mn-lt"/>
              </a:rPr>
              <a:t> and </a:t>
            </a:r>
            <a:r>
              <a:rPr lang="es-ES" dirty="0" err="1">
                <a:ea typeface="+mn-lt"/>
                <a:cs typeface="+mn-lt"/>
              </a:rPr>
              <a:t>longer-window</a:t>
            </a:r>
            <a:r>
              <a:rPr lang="es-ES" dirty="0">
                <a:ea typeface="+mn-lt"/>
                <a:cs typeface="+mn-lt"/>
              </a:rPr>
              <a:t> </a:t>
            </a:r>
            <a:r>
              <a:rPr lang="es-ES" dirty="0" err="1">
                <a:ea typeface="+mn-lt"/>
                <a:cs typeface="+mn-lt"/>
              </a:rPr>
              <a:t>segments</a:t>
            </a:r>
            <a:endParaRPr lang="es-ES" dirty="0">
              <a:ea typeface="+mn-lt"/>
              <a:cs typeface="+mn-lt"/>
            </a:endParaRPr>
          </a:p>
          <a:p>
            <a:pPr lvl="1"/>
            <a:r>
              <a:rPr lang="es-ES" dirty="0" err="1">
                <a:ea typeface="+mn-lt"/>
                <a:cs typeface="+mn-lt"/>
              </a:rPr>
              <a:t>Well-suited</a:t>
            </a:r>
            <a:r>
              <a:rPr lang="es-ES" dirty="0">
                <a:ea typeface="+mn-lt"/>
                <a:cs typeface="+mn-lt"/>
              </a:rPr>
              <a:t> </a:t>
            </a:r>
            <a:r>
              <a:rPr lang="es-ES" dirty="0" err="1">
                <a:ea typeface="+mn-lt"/>
                <a:cs typeface="+mn-lt"/>
              </a:rPr>
              <a:t>for</a:t>
            </a:r>
            <a:r>
              <a:rPr lang="es-ES" dirty="0">
                <a:ea typeface="+mn-lt"/>
                <a:cs typeface="+mn-lt"/>
              </a:rPr>
              <a:t> </a:t>
            </a:r>
            <a:r>
              <a:rPr lang="es-ES" i="1" dirty="0" err="1">
                <a:ea typeface="+mn-lt"/>
                <a:cs typeface="+mn-lt"/>
              </a:rPr>
              <a:t>early</a:t>
            </a:r>
            <a:r>
              <a:rPr lang="es-ES" i="1" dirty="0">
                <a:ea typeface="+mn-lt"/>
                <a:cs typeface="+mn-lt"/>
              </a:rPr>
              <a:t> </a:t>
            </a:r>
            <a:r>
              <a:rPr lang="es-ES" i="1" dirty="0" err="1">
                <a:ea typeface="+mn-lt"/>
                <a:cs typeface="+mn-lt"/>
              </a:rPr>
              <a:t>seizure</a:t>
            </a:r>
            <a:r>
              <a:rPr lang="es-ES" i="1" dirty="0">
                <a:ea typeface="+mn-lt"/>
                <a:cs typeface="+mn-lt"/>
              </a:rPr>
              <a:t> </a:t>
            </a:r>
            <a:r>
              <a:rPr lang="es-ES" i="1" dirty="0" err="1">
                <a:ea typeface="+mn-lt"/>
                <a:cs typeface="+mn-lt"/>
              </a:rPr>
              <a:t>warning</a:t>
            </a:r>
            <a:r>
              <a:rPr lang="es-ES" i="1" dirty="0">
                <a:ea typeface="+mn-lt"/>
                <a:cs typeface="+mn-lt"/>
              </a:rPr>
              <a:t> </a:t>
            </a:r>
            <a:r>
              <a:rPr lang="es-ES" dirty="0">
                <a:ea typeface="+mn-lt"/>
                <a:cs typeface="+mn-lt"/>
              </a:rPr>
              <a:t>(minutes </a:t>
            </a:r>
            <a:r>
              <a:rPr lang="es-ES" dirty="0" err="1">
                <a:ea typeface="+mn-lt"/>
                <a:cs typeface="+mn-lt"/>
              </a:rPr>
              <a:t>or</a:t>
            </a:r>
            <a:r>
              <a:rPr lang="es-ES" dirty="0">
                <a:ea typeface="+mn-lt"/>
                <a:cs typeface="+mn-lt"/>
              </a:rPr>
              <a:t> </a:t>
            </a:r>
            <a:r>
              <a:rPr lang="es-ES" dirty="0" err="1">
                <a:ea typeface="+mn-lt"/>
                <a:cs typeface="+mn-lt"/>
              </a:rPr>
              <a:t>hours</a:t>
            </a:r>
            <a:r>
              <a:rPr lang="es-ES" dirty="0">
                <a:ea typeface="+mn-lt"/>
                <a:cs typeface="+mn-lt"/>
              </a:rPr>
              <a:t> </a:t>
            </a:r>
            <a:r>
              <a:rPr lang="es-ES" dirty="0" err="1">
                <a:ea typeface="+mn-lt"/>
                <a:cs typeface="+mn-lt"/>
              </a:rPr>
              <a:t>before</a:t>
            </a:r>
            <a:r>
              <a:rPr lang="es-ES" dirty="0">
                <a:ea typeface="+mn-lt"/>
                <a:cs typeface="+mn-lt"/>
              </a:rPr>
              <a:t> </a:t>
            </a:r>
            <a:r>
              <a:rPr lang="es-ES" dirty="0" err="1">
                <a:ea typeface="+mn-lt"/>
                <a:cs typeface="+mn-lt"/>
              </a:rPr>
              <a:t>seizure</a:t>
            </a:r>
            <a:r>
              <a:rPr lang="es-ES" dirty="0">
                <a:ea typeface="+mn-lt"/>
                <a:cs typeface="+mn-lt"/>
              </a:rPr>
              <a:t>)</a:t>
            </a:r>
          </a:p>
          <a:p>
            <a:pPr lvl="1"/>
            <a:r>
              <a:rPr lang="es-ES" dirty="0" err="1">
                <a:ea typeface="+mn-lt"/>
                <a:cs typeface="+mn-lt"/>
              </a:rPr>
              <a:t>Overfitting</a:t>
            </a:r>
            <a:r>
              <a:rPr lang="es-ES" dirty="0">
                <a:ea typeface="+mn-lt"/>
                <a:cs typeface="+mn-lt"/>
              </a:rPr>
              <a:t> and </a:t>
            </a:r>
            <a:r>
              <a:rPr lang="es-ES" dirty="0" err="1">
                <a:ea typeface="+mn-lt"/>
                <a:cs typeface="+mn-lt"/>
              </a:rPr>
              <a:t>computational</a:t>
            </a:r>
            <a:r>
              <a:rPr lang="es-ES" dirty="0">
                <a:ea typeface="+mn-lt"/>
                <a:cs typeface="+mn-lt"/>
              </a:rPr>
              <a:t> </a:t>
            </a:r>
            <a:r>
              <a:rPr lang="es-ES" dirty="0" err="1">
                <a:ea typeface="+mn-lt"/>
                <a:cs typeface="+mn-lt"/>
              </a:rPr>
              <a:t>cost</a:t>
            </a:r>
            <a:endParaRPr lang="es-ES" dirty="0">
              <a:ea typeface="+mn-lt"/>
              <a:cs typeface="+mn-lt"/>
            </a:endParaRPr>
          </a:p>
          <a:p>
            <a:r>
              <a:rPr lang="es-ES" sz="2400" b="1" dirty="0" err="1">
                <a:ea typeface="+mn-lt"/>
                <a:cs typeface="+mn-lt"/>
              </a:rPr>
              <a:t>Importance</a:t>
            </a:r>
            <a:r>
              <a:rPr lang="es-ES" sz="2400" b="1" dirty="0">
                <a:ea typeface="+mn-lt"/>
                <a:cs typeface="+mn-lt"/>
              </a:rPr>
              <a:t> </a:t>
            </a:r>
            <a:r>
              <a:rPr lang="es-ES" sz="2400" b="1" dirty="0" err="1">
                <a:ea typeface="+mn-lt"/>
                <a:cs typeface="+mn-lt"/>
              </a:rPr>
              <a:t>of</a:t>
            </a:r>
            <a:r>
              <a:rPr lang="es-ES" sz="2400" b="1" dirty="0">
                <a:ea typeface="+mn-lt"/>
                <a:cs typeface="+mn-lt"/>
              </a:rPr>
              <a:t> data </a:t>
            </a:r>
            <a:r>
              <a:rPr lang="es-ES" sz="2400" b="1" dirty="0" err="1">
                <a:ea typeface="+mn-lt"/>
                <a:cs typeface="+mn-lt"/>
              </a:rPr>
              <a:t>splits</a:t>
            </a:r>
            <a:r>
              <a:rPr lang="es-ES" sz="2400" b="1" dirty="0">
                <a:ea typeface="+mn-lt"/>
                <a:cs typeface="+mn-lt"/>
              </a:rPr>
              <a:t> and </a:t>
            </a:r>
            <a:r>
              <a:rPr lang="es-ES" sz="2400" b="1" dirty="0" err="1">
                <a:ea typeface="+mn-lt"/>
                <a:cs typeface="+mn-lt"/>
              </a:rPr>
              <a:t>generalizability</a:t>
            </a:r>
            <a:endParaRPr lang="es-ES" sz="2400" b="1" dirty="0">
              <a:ea typeface="+mn-lt"/>
              <a:cs typeface="+mn-lt"/>
            </a:endParaRPr>
          </a:p>
          <a:p>
            <a:pPr lvl="1"/>
            <a:r>
              <a:rPr lang="es-ES" b="1" dirty="0" err="1">
                <a:ea typeface="+mn-lt"/>
                <a:cs typeface="+mn-lt"/>
              </a:rPr>
              <a:t>Window-level</a:t>
            </a:r>
            <a:r>
              <a:rPr lang="es-ES" b="1" dirty="0">
                <a:ea typeface="+mn-lt"/>
                <a:cs typeface="+mn-lt"/>
              </a:rPr>
              <a:t>: </a:t>
            </a:r>
            <a:r>
              <a:rPr lang="es-ES" dirty="0">
                <a:ea typeface="+mn-lt"/>
                <a:cs typeface="+mn-lt"/>
              </a:rPr>
              <a:t>80% </a:t>
            </a:r>
            <a:r>
              <a:rPr lang="es-ES" dirty="0" err="1">
                <a:ea typeface="+mn-lt"/>
                <a:cs typeface="+mn-lt"/>
              </a:rPr>
              <a:t>overlap</a:t>
            </a:r>
            <a:r>
              <a:rPr lang="es-ES" dirty="0">
                <a:ea typeface="+mn-lt"/>
                <a:cs typeface="+mn-lt"/>
              </a:rPr>
              <a:t> = </a:t>
            </a:r>
            <a:r>
              <a:rPr lang="es-ES" dirty="0" err="1">
                <a:ea typeface="+mn-lt"/>
                <a:cs typeface="+mn-lt"/>
              </a:rPr>
              <a:t>falsely</a:t>
            </a:r>
            <a:r>
              <a:rPr lang="es-ES" dirty="0">
                <a:ea typeface="+mn-lt"/>
                <a:cs typeface="+mn-lt"/>
              </a:rPr>
              <a:t> </a:t>
            </a:r>
            <a:r>
              <a:rPr lang="es-ES" dirty="0" err="1">
                <a:ea typeface="+mn-lt"/>
                <a:cs typeface="+mn-lt"/>
              </a:rPr>
              <a:t>high</a:t>
            </a:r>
            <a:r>
              <a:rPr lang="es-ES" dirty="0">
                <a:ea typeface="+mn-lt"/>
                <a:cs typeface="+mn-lt"/>
              </a:rPr>
              <a:t> performance</a:t>
            </a:r>
          </a:p>
          <a:p>
            <a:pPr lvl="1"/>
            <a:r>
              <a:rPr lang="es-ES" b="1" dirty="0" err="1">
                <a:ea typeface="+mn-lt"/>
                <a:cs typeface="+mn-lt"/>
              </a:rPr>
              <a:t>Seizure-level</a:t>
            </a:r>
            <a:r>
              <a:rPr lang="es-ES" b="1" dirty="0">
                <a:ea typeface="+mn-lt"/>
                <a:cs typeface="+mn-lt"/>
              </a:rPr>
              <a:t>:</a:t>
            </a:r>
            <a:r>
              <a:rPr lang="es-ES" dirty="0">
                <a:ea typeface="+mn-lt"/>
                <a:cs typeface="+mn-lt"/>
              </a:rPr>
              <a:t> </a:t>
            </a:r>
            <a:r>
              <a:rPr lang="es-ES" dirty="0" err="1">
                <a:ea typeface="+mn-lt"/>
                <a:cs typeface="+mn-lt"/>
              </a:rPr>
              <a:t>useful</a:t>
            </a:r>
            <a:r>
              <a:rPr lang="es-ES" dirty="0">
                <a:ea typeface="+mn-lt"/>
                <a:cs typeface="+mn-lt"/>
              </a:rPr>
              <a:t> in </a:t>
            </a:r>
            <a:r>
              <a:rPr lang="es-ES" dirty="0" err="1">
                <a:ea typeface="+mn-lt"/>
                <a:cs typeface="+mn-lt"/>
              </a:rPr>
              <a:t>personalized</a:t>
            </a:r>
            <a:r>
              <a:rPr lang="es-ES" dirty="0">
                <a:ea typeface="+mn-lt"/>
                <a:cs typeface="+mn-lt"/>
              </a:rPr>
              <a:t> </a:t>
            </a:r>
            <a:r>
              <a:rPr lang="es-ES" dirty="0" err="1">
                <a:ea typeface="+mn-lt"/>
                <a:cs typeface="+mn-lt"/>
              </a:rPr>
              <a:t>settings</a:t>
            </a:r>
            <a:r>
              <a:rPr lang="es-ES" dirty="0">
                <a:ea typeface="+mn-lt"/>
                <a:cs typeface="+mn-lt"/>
              </a:rPr>
              <a:t> </a:t>
            </a:r>
            <a:r>
              <a:rPr lang="es-ES" dirty="0" err="1">
                <a:ea typeface="+mn-lt"/>
                <a:cs typeface="+mn-lt"/>
              </a:rPr>
              <a:t>to</a:t>
            </a:r>
            <a:r>
              <a:rPr lang="es-ES" dirty="0">
                <a:ea typeface="+mn-lt"/>
                <a:cs typeface="+mn-lt"/>
              </a:rPr>
              <a:t> </a:t>
            </a:r>
            <a:r>
              <a:rPr lang="es-ES" dirty="0" err="1">
                <a:ea typeface="+mn-lt"/>
                <a:cs typeface="+mn-lt"/>
              </a:rPr>
              <a:t>classify</a:t>
            </a:r>
            <a:r>
              <a:rPr lang="es-ES" dirty="0">
                <a:ea typeface="+mn-lt"/>
                <a:cs typeface="+mn-lt"/>
              </a:rPr>
              <a:t> </a:t>
            </a:r>
            <a:r>
              <a:rPr lang="es-ES" dirty="0" err="1">
                <a:ea typeface="+mn-lt"/>
                <a:cs typeface="+mn-lt"/>
              </a:rPr>
              <a:t>seizures</a:t>
            </a:r>
            <a:r>
              <a:rPr lang="es-ES" dirty="0">
                <a:ea typeface="+mn-lt"/>
                <a:cs typeface="+mn-lt"/>
              </a:rPr>
              <a:t> </a:t>
            </a:r>
            <a:r>
              <a:rPr lang="es-ES" dirty="0" err="1">
                <a:ea typeface="+mn-lt"/>
                <a:cs typeface="+mn-lt"/>
              </a:rPr>
              <a:t>of</a:t>
            </a:r>
            <a:r>
              <a:rPr lang="es-ES" dirty="0">
                <a:ea typeface="+mn-lt"/>
                <a:cs typeface="+mn-lt"/>
              </a:rPr>
              <a:t> </a:t>
            </a:r>
            <a:r>
              <a:rPr lang="es-ES" dirty="0" err="1">
                <a:ea typeface="+mn-lt"/>
                <a:cs typeface="+mn-lt"/>
              </a:rPr>
              <a:t>same</a:t>
            </a:r>
            <a:r>
              <a:rPr lang="es-ES" dirty="0">
                <a:ea typeface="+mn-lt"/>
                <a:cs typeface="+mn-lt"/>
              </a:rPr>
              <a:t> </a:t>
            </a:r>
            <a:r>
              <a:rPr lang="es-ES" dirty="0" err="1">
                <a:ea typeface="+mn-lt"/>
                <a:cs typeface="+mn-lt"/>
              </a:rPr>
              <a:t>patient</a:t>
            </a:r>
            <a:endParaRPr lang="es-ES" dirty="0">
              <a:ea typeface="+mn-lt"/>
              <a:cs typeface="+mn-lt"/>
            </a:endParaRPr>
          </a:p>
          <a:p>
            <a:pPr lvl="1"/>
            <a:r>
              <a:rPr lang="es-ES" b="1" dirty="0" err="1">
                <a:ea typeface="+mn-lt"/>
                <a:cs typeface="+mn-lt"/>
              </a:rPr>
              <a:t>Patient-level</a:t>
            </a:r>
            <a:r>
              <a:rPr lang="es-ES" dirty="0">
                <a:ea typeface="+mn-lt"/>
                <a:cs typeface="+mn-lt"/>
              </a:rPr>
              <a:t>: </a:t>
            </a:r>
            <a:r>
              <a:rPr lang="es-ES" dirty="0" err="1">
                <a:ea typeface="+mn-lt"/>
                <a:cs typeface="+mn-lt"/>
              </a:rPr>
              <a:t>hardest</a:t>
            </a:r>
            <a:r>
              <a:rPr lang="es-ES" dirty="0">
                <a:ea typeface="+mn-lt"/>
                <a:cs typeface="+mn-lt"/>
              </a:rPr>
              <a:t>, </a:t>
            </a:r>
            <a:r>
              <a:rPr lang="es-ES" dirty="0" err="1">
                <a:ea typeface="+mn-lt"/>
                <a:cs typeface="+mn-lt"/>
              </a:rPr>
              <a:t>but</a:t>
            </a:r>
            <a:r>
              <a:rPr lang="es-ES" dirty="0">
                <a:ea typeface="+mn-lt"/>
                <a:cs typeface="+mn-lt"/>
              </a:rPr>
              <a:t> generalizable </a:t>
            </a:r>
            <a:r>
              <a:rPr lang="es-ES" dirty="0" err="1">
                <a:ea typeface="+mn-lt"/>
                <a:cs typeface="+mn-lt"/>
              </a:rPr>
              <a:t>to</a:t>
            </a:r>
            <a:r>
              <a:rPr lang="es-ES" dirty="0">
                <a:ea typeface="+mn-lt"/>
                <a:cs typeface="+mn-lt"/>
              </a:rPr>
              <a:t> new </a:t>
            </a:r>
            <a:r>
              <a:rPr lang="es-ES" dirty="0" err="1">
                <a:ea typeface="+mn-lt"/>
                <a:cs typeface="+mn-lt"/>
              </a:rPr>
              <a:t>unseen</a:t>
            </a:r>
            <a:r>
              <a:rPr lang="es-ES" dirty="0">
                <a:ea typeface="+mn-lt"/>
                <a:cs typeface="+mn-lt"/>
              </a:rPr>
              <a:t> </a:t>
            </a:r>
            <a:r>
              <a:rPr lang="es-ES" dirty="0" err="1">
                <a:ea typeface="+mn-lt"/>
                <a:cs typeface="+mn-lt"/>
              </a:rPr>
              <a:t>patients</a:t>
            </a:r>
            <a:endParaRPr lang="es-ES" dirty="0">
              <a:ea typeface="+mn-lt"/>
              <a:cs typeface="+mn-lt"/>
            </a:endParaRPr>
          </a:p>
          <a:p>
            <a:pPr lvl="1"/>
            <a:endParaRPr lang="es-ES" dirty="0">
              <a:ea typeface="+mn-lt"/>
              <a:cs typeface="+mn-lt"/>
            </a:endParaRPr>
          </a:p>
          <a:p>
            <a:endParaRPr lang="es-ES" sz="2400" dirty="0">
              <a:ea typeface="+mn-lt"/>
              <a:cs typeface="+mn-lt"/>
            </a:endParaRPr>
          </a:p>
          <a:p>
            <a:endParaRPr lang="en-GB" sz="2400" b="1" dirty="0">
              <a:ea typeface="+mn-lt"/>
              <a:cs typeface="+mn-lt"/>
            </a:endParaRPr>
          </a:p>
          <a:p>
            <a:pPr marL="0" indent="0">
              <a:buNone/>
            </a:pPr>
            <a:endParaRPr lang="en-GB" sz="2400" dirty="0"/>
          </a:p>
        </p:txBody>
      </p:sp>
    </p:spTree>
    <p:extLst>
      <p:ext uri="{BB962C8B-B14F-4D97-AF65-F5344CB8AC3E}">
        <p14:creationId xmlns:p14="http://schemas.microsoft.com/office/powerpoint/2010/main" val="209726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77B5B20-8EEE-4CA5-8810-762F1A682DA9}">
  <we:reference id="ec75510c-17ee-4a9f-ace0-62bbcae56d7a" version="1.0.0.0" store="excatalog" storeType="excatalog"/>
  <we:alternateReferences>
    <we:reference id="WA200000094" version="1.0.0.0" store="ca-e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1957</TotalTime>
  <Words>1426</Words>
  <Application>Microsoft Macintosh PowerPoint</Application>
  <PresentationFormat>Widescreen</PresentationFormat>
  <Paragraphs>145</Paragraphs>
  <Slides>17</Slides>
  <Notes>7</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Seizure Classification with  Deep Learning</vt:lpstr>
      <vt:lpstr>Background and Motivations</vt:lpstr>
      <vt:lpstr>Dataset</vt:lpstr>
      <vt:lpstr>Goals</vt:lpstr>
      <vt:lpstr>Additional data splitting / cleaning </vt:lpstr>
      <vt:lpstr>Methodology: Architecture Selection</vt:lpstr>
      <vt:lpstr>CNN Methodology Overview</vt:lpstr>
      <vt:lpstr>LSTM Methodology Overview</vt:lpstr>
      <vt:lpstr>Experimental Design</vt:lpstr>
      <vt:lpstr>CNN Steps</vt:lpstr>
      <vt:lpstr>LSTM Steps</vt:lpstr>
      <vt:lpstr>Results: Training Process</vt:lpstr>
      <vt:lpstr>F1 Scores – 3 × 2 × 2 Scenario Comparison</vt:lpstr>
      <vt:lpstr>F1 and ROC AUC: Key Insights</vt:lpstr>
      <vt:lpstr>ROC-AUC Scores – 3 × 2 × 2 Scenarios</vt:lpstr>
      <vt:lpstr>Confusion Matrices: CNN vs LSTM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Enoch Shin</dc:creator>
  <cp:lastModifiedBy>Enoch Shin</cp:lastModifiedBy>
  <cp:revision>50</cp:revision>
  <dcterms:created xsi:type="dcterms:W3CDTF">2026-02-10T15:08:16Z</dcterms:created>
  <dcterms:modified xsi:type="dcterms:W3CDTF">2026-04-27T19:55:12Z</dcterms:modified>
</cp:coreProperties>
</file>