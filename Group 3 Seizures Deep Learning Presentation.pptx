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6" r:id="rId1"/>
  </p:sldMasterIdLst>
  <p:notesMasterIdLst>
    <p:notesMasterId r:id="rId24"/>
  </p:notesMasterIdLst>
  <p:sldIdLst>
    <p:sldId id="256" r:id="rId2"/>
    <p:sldId id="299" r:id="rId3"/>
    <p:sldId id="267" r:id="rId4"/>
    <p:sldId id="263" r:id="rId5"/>
    <p:sldId id="277" r:id="rId6"/>
    <p:sldId id="293" r:id="rId7"/>
    <p:sldId id="298" r:id="rId8"/>
    <p:sldId id="278" r:id="rId9"/>
    <p:sldId id="282" r:id="rId10"/>
    <p:sldId id="284" r:id="rId11"/>
    <p:sldId id="291" r:id="rId12"/>
    <p:sldId id="300" r:id="rId13"/>
    <p:sldId id="271" r:id="rId14"/>
    <p:sldId id="287" r:id="rId15"/>
    <p:sldId id="303" r:id="rId16"/>
    <p:sldId id="285" r:id="rId17"/>
    <p:sldId id="302" r:id="rId18"/>
    <p:sldId id="288" r:id="rId19"/>
    <p:sldId id="296" r:id="rId20"/>
    <p:sldId id="297" r:id="rId21"/>
    <p:sldId id="301" r:id="rId22"/>
    <p:sldId id="275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D27F2A1-4458-C142-8427-E414F0F59EC5}" v="19" dt="2026-03-12T17:27:36.4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52"/>
  </p:normalViewPr>
  <p:slideViewPr>
    <p:cSldViewPr snapToGrid="0">
      <p:cViewPr varScale="1">
        <p:scale>
          <a:sx n="119" d="100"/>
          <a:sy n="119" d="100"/>
        </p:scale>
        <p:origin x="2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3C5CF5-2F08-B740-9061-51D0631E3765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0EE75B-EF0F-E245-A34A-06675D4483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8880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www.sciencedirect.com</a:t>
            </a:r>
            <a:r>
              <a:rPr lang="en-US" dirty="0"/>
              <a:t>/science/article/</a:t>
            </a:r>
            <a:r>
              <a:rPr lang="en-US" dirty="0" err="1"/>
              <a:t>pii</a:t>
            </a:r>
            <a:r>
              <a:rPr lang="en-US"/>
              <a:t>/S0969996122000390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0EE75B-EF0F-E245-A34A-06675D44839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8850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https://</a:t>
            </a:r>
            <a:r>
              <a:rPr lang="en-US" err="1"/>
              <a:t>www.kungfu.ai</a:t>
            </a:r>
            <a:r>
              <a:rPr lang="en-US"/>
              <a:t>/blog-post/</a:t>
            </a:r>
            <a:r>
              <a:rPr lang="en-US" err="1"/>
              <a:t>convnext</a:t>
            </a:r>
            <a:r>
              <a:rPr lang="en-US"/>
              <a:t>-a-transformer-inspired-</a:t>
            </a:r>
            <a:r>
              <a:rPr lang="en-US" err="1"/>
              <a:t>cnn</a:t>
            </a:r>
            <a:r>
              <a:rPr lang="en-US"/>
              <a:t>-architecture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0EE75B-EF0F-E245-A34A-06675D44839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574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0EE75B-EF0F-E245-A34A-06675D44839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8828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52F09-D039-D6C9-00D5-D24C91C696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FD0C62-627D-ECDC-AB93-4E73C487B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4FF55-88C6-A128-D165-6E2D1124B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FBD62-AA3B-E74B-8A60-7E8626BB6760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7FF707-22EB-02E6-8D36-6F4C368E4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C00AC6-2C9F-E36D-EA12-82F65EE5E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8FCCD-04DE-2049-9107-2373F8A1FF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945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77EF2-2D51-9C9F-AE35-9AC7D58A8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EE4989-B1BD-491E-1CBD-DEAF54CD28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04C3F1-4AAB-EC4D-8850-69653072D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FBD62-AA3B-E74B-8A60-7E8626BB6760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44581B-F6B4-89E9-1994-F8A419E4D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3E58C-2E20-616B-B0C5-6A72A82BF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8FCCD-04DE-2049-9107-2373F8A1FF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215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B58DE-31B3-50E7-2CBA-3B1D19404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DD339B-A76E-A18A-66D1-6DCF18C0A2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C57D7C-4E8B-E3D5-16E7-47A388DC5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FBD62-AA3B-E74B-8A60-7E8626BB6760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5E1A1E-7E77-3B98-DB76-4496FA9CF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5B1B3-7920-D9CA-F1B2-5CD41937B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8FCCD-04DE-2049-9107-2373F8A1FF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4086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85C0B-4A4B-4580-DAD4-DC7E00891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64135-FB52-8AF5-C2F0-E06DF78F84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125E09-D4D7-AE02-0FFB-6A58917BE8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6532B4-C363-8559-86A6-7AC0646D4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FBD62-AA3B-E74B-8A60-7E8626BB6760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DE32F9-7387-3E08-664B-13CD113FA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B725F9-D2EA-3490-7DA3-3839EF35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8FCCD-04DE-2049-9107-2373F8A1FF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9029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2763C-3FCB-3E18-EE55-5F5708E90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D6BA26-34DD-A373-FDCA-5E2A9A1683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5FB633-1BDB-E168-E111-195840BDD8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9565FF-142D-DEAB-6A39-DABDAB812C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90B710-4148-67D4-29B3-1BBBDEE9A5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527533-398F-9EA7-F12D-B30509E21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FBD62-AA3B-E74B-8A60-7E8626BB6760}" type="datetimeFigureOut">
              <a:rPr lang="en-US" smtClean="0"/>
              <a:t>3/12/26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DDD02F-5E89-8418-9A54-7251D6E43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7D97F5-8E3C-4DFD-93CA-3DD15F203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8FCCD-04DE-2049-9107-2373F8A1FF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225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CDD8B-A60E-D79D-EF2C-E2C4CC605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D257C4-CD41-CB47-30C7-95C3269F4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FBD62-AA3B-E74B-8A60-7E8626BB6760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93A3D5-BEA4-C75B-B9B9-FB6D162D2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381D59-49D1-F25F-EDB4-6FEF30700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8FCCD-04DE-2049-9107-2373F8A1FF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8569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727309-0958-58C1-C134-EC47F2C81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FBD62-AA3B-E74B-8A60-7E8626BB6760}" type="datetimeFigureOut">
              <a:rPr lang="en-US" smtClean="0"/>
              <a:t>3/12/26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BB6C90-503B-8927-9A63-8BD8F18E4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D2C0D-D8FF-9FEE-C825-5DD22BFEE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8FCCD-04DE-2049-9107-2373F8A1FF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7587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AC1D3-B0A8-376B-6CD3-0449F2E82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DCF61-7792-A938-200C-DEE602450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F43659-1433-62F0-F4F3-68C01425F9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D1F357-D136-E5C1-AC01-985A7A2A1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FBD62-AA3B-E74B-8A60-7E8626BB6760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38EF83-D0E0-488E-B508-62D8CE875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3E151A-E486-9B0A-9473-F29EECC75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8FCCD-04DE-2049-9107-2373F8A1FF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2443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B5664-3F74-C315-6AE0-BBD329DEF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598495-4CD6-DBA2-E28A-1228B63053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C2439F-2B6E-0485-07B8-BF583A32F2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FF7086-6782-9268-3898-63F950BEA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FBD62-AA3B-E74B-8A60-7E8626BB6760}" type="datetimeFigureOut">
              <a:rPr lang="en-US" smtClean="0"/>
              <a:t>3/12/26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DAFAD1-F9BF-2D26-7DFC-C00A0C160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DD584E-083B-3C26-4E59-2E51AD673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8FCCD-04DE-2049-9107-2373F8A1FF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100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2C96B-7785-8864-CBD1-D9923340D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E19EEF-4E95-7735-E60C-A70A0879CB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6F3C0B-5485-9514-D40C-AA9B7BD13F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FBD62-AA3B-E74B-8A60-7E8626BB6760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09875B-AA93-232C-0460-584EE1A77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034E91-3AD3-71BF-8C81-F3CDA8AFA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8FCCD-04DE-2049-9107-2373F8A1FF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4371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0B750F-14D1-F67C-1A35-1970D371BE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9D3461-A568-937F-E7D5-D5040BA367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AAE44C-D77A-D9A5-62C8-881E66ED0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FBD62-AA3B-E74B-8A60-7E8626BB6760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16A8FA-1C0E-92B5-9B1B-26482E0F4E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5F733C-60D7-C14C-2BB2-7D64617D6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8FCCD-04DE-2049-9107-2373F8A1FF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7586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13B7C9-9B28-F794-DDA5-3E9E09525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57E1C5-FC63-1D79-11AA-1272C33C0D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03FB1C-82E0-36E0-421B-3FAF3F84A2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7FBD62-AA3B-E74B-8A60-7E8626BB6760}" type="datetimeFigureOut">
              <a:rPr lang="en-US" smtClean="0"/>
              <a:t>3/12/26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C51A10-34C1-6FC1-C227-2F44A240A2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D7E656-4BDE-987D-5941-58A08BBAA7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08FCCD-04DE-2049-9107-2373F8A1FF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428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95D34-F764-4C6E-05DD-5ABCF244C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25318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Seizure Classification with  Deep Learning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176A87-D84C-E30A-DC74-6C537B820C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21323"/>
            <a:ext cx="9144000" cy="1655762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en-GB" sz="2000" b="1"/>
              <a:t>Group 3</a:t>
            </a:r>
          </a:p>
          <a:p>
            <a:r>
              <a:rPr lang="en-GB" sz="2000">
                <a:solidFill>
                  <a:schemeClr val="tx2">
                    <a:lumMod val="75000"/>
                    <a:lumOff val="25000"/>
                  </a:schemeClr>
                </a:solidFill>
              </a:rPr>
              <a:t>Twyla Keating, 1770979</a:t>
            </a:r>
            <a:endParaRPr lang="en-US" sz="200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r>
              <a:rPr lang="en-GB" sz="2000">
                <a:solidFill>
                  <a:srgbClr val="7030A0"/>
                </a:solidFill>
              </a:rPr>
              <a:t>Zijian Li, 1781642</a:t>
            </a:r>
            <a:endParaRPr lang="en-US" sz="2000">
              <a:solidFill>
                <a:srgbClr val="7030A0"/>
              </a:solidFill>
            </a:endParaRPr>
          </a:p>
          <a:p>
            <a:r>
              <a:rPr lang="en-GB" sz="2000"/>
              <a:t>Enoch Shin, 1767565</a:t>
            </a:r>
            <a:endParaRPr lang="en-US" sz="2000"/>
          </a:p>
          <a:p>
            <a:r>
              <a:rPr lang="en-GB" sz="2000" err="1">
                <a:solidFill>
                  <a:schemeClr val="accent6">
                    <a:lumMod val="75000"/>
                  </a:schemeClr>
                </a:solidFill>
              </a:rPr>
              <a:t>Wenqi</a:t>
            </a:r>
            <a:r>
              <a:rPr lang="en-GB" sz="2000">
                <a:solidFill>
                  <a:schemeClr val="accent6">
                    <a:lumMod val="75000"/>
                  </a:schemeClr>
                </a:solidFill>
              </a:rPr>
              <a:t> Zhang, 1785174</a:t>
            </a:r>
            <a:endParaRPr lang="en-US" sz="2000">
              <a:solidFill>
                <a:schemeClr val="accent6">
                  <a:lumMod val="75000"/>
                </a:schemeClr>
              </a:solidFill>
            </a:endParaRPr>
          </a:p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23607853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0BF86-C7F4-0AA3-4482-85B58F55A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4762" y="-185979"/>
            <a:ext cx="10515600" cy="1325563"/>
          </a:xfrm>
        </p:spPr>
        <p:txBody>
          <a:bodyPr/>
          <a:lstStyle/>
          <a:p>
            <a:r>
              <a:rPr lang="en-GB">
                <a:ea typeface="+mj-lt"/>
                <a:cs typeface="+mj-lt"/>
              </a:rPr>
              <a:t>Background and Motivations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63CCF0-26C1-734F-1187-CBC695BC6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00274"/>
            <a:ext cx="10515600" cy="4351338"/>
          </a:xfrm>
        </p:spPr>
        <p:txBody>
          <a:bodyPr>
            <a:normAutofit/>
          </a:bodyPr>
          <a:lstStyle/>
          <a:p>
            <a:r>
              <a:rPr lang="en-GB" sz="2500" dirty="0">
                <a:ea typeface="+mn-lt"/>
                <a:cs typeface="+mn-lt"/>
              </a:rPr>
              <a:t>World Health Organization  -- 50 million people worldwide </a:t>
            </a:r>
          </a:p>
          <a:p>
            <a:pPr lvl="1"/>
            <a:r>
              <a:rPr lang="en-GB" sz="2500" dirty="0">
                <a:ea typeface="+mn-lt"/>
                <a:cs typeface="+mn-lt"/>
              </a:rPr>
              <a:t>“It is estimated that up to 70% of people living with epilepsy could live </a:t>
            </a:r>
            <a:r>
              <a:rPr lang="en-GB" sz="2500" b="1" dirty="0">
                <a:ea typeface="+mn-lt"/>
                <a:cs typeface="+mn-lt"/>
              </a:rPr>
              <a:t>seizure-free </a:t>
            </a:r>
            <a:r>
              <a:rPr lang="en-GB" sz="2500" dirty="0">
                <a:ea typeface="+mn-lt"/>
                <a:cs typeface="+mn-lt"/>
              </a:rPr>
              <a:t>if </a:t>
            </a:r>
            <a:r>
              <a:rPr lang="en-GB" sz="2500" b="1" dirty="0">
                <a:ea typeface="+mn-lt"/>
                <a:cs typeface="+mn-lt"/>
              </a:rPr>
              <a:t>properly diagnosed and treated</a:t>
            </a:r>
            <a:r>
              <a:rPr lang="en-GB" sz="2500" dirty="0">
                <a:ea typeface="+mn-lt"/>
                <a:cs typeface="+mn-lt"/>
              </a:rPr>
              <a:t>.”</a:t>
            </a:r>
          </a:p>
          <a:p>
            <a:r>
              <a:rPr lang="en-GB" sz="2500" dirty="0">
                <a:ea typeface="+mn-lt"/>
                <a:cs typeface="+mn-lt"/>
              </a:rPr>
              <a:t>Physical and psychological comorbidities</a:t>
            </a:r>
          </a:p>
          <a:p>
            <a:endParaRPr lang="en-GB" sz="2500" dirty="0">
              <a:ea typeface="+mn-lt"/>
              <a:cs typeface="+mn-lt"/>
            </a:endParaRPr>
          </a:p>
          <a:p>
            <a:endParaRPr lang="en-GB" sz="2500" dirty="0">
              <a:ea typeface="+mn-lt"/>
              <a:cs typeface="+mn-lt"/>
            </a:endParaRPr>
          </a:p>
        </p:txBody>
      </p:sp>
      <p:pic>
        <p:nvPicPr>
          <p:cNvPr id="1028" name="Picture 4" descr="Fig. 1">
            <a:extLst>
              <a:ext uri="{FF2B5EF4-FFF2-40B4-BE49-F238E27FC236}">
                <a16:creationId xmlns:a16="http://schemas.microsoft.com/office/drawing/2014/main" id="{5307AFAE-D857-9287-F6C4-E7991BB8AB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9868" y="2662000"/>
            <a:ext cx="5402036" cy="41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622045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97BA5C-3B48-9779-B1C5-F89941FD7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GB" sz="5400"/>
              <a:t>Dataset</a:t>
            </a:r>
          </a:p>
        </p:txBody>
      </p:sp>
      <p:sp>
        <p:nvSpPr>
          <p:cNvPr id="27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1D507-7695-26F0-2214-0FF6195317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5" y="2660904"/>
            <a:ext cx="11006883" cy="3547872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GB" sz="2200">
                <a:ea typeface="+mn-lt"/>
                <a:cs typeface="+mn-lt"/>
              </a:rPr>
              <a:t>WSIs are divided into patches for scalable training and inference</a:t>
            </a:r>
          </a:p>
          <a:p>
            <a:r>
              <a:rPr lang="en-GB" sz="2200">
                <a:ea typeface="+mn-lt"/>
                <a:cs typeface="+mn-lt"/>
              </a:rPr>
              <a:t>Two annotation levels are provided:</a:t>
            </a:r>
            <a:endParaRPr lang="en-GB">
              <a:ea typeface="+mn-lt"/>
              <a:cs typeface="+mn-lt"/>
            </a:endParaRPr>
          </a:p>
          <a:p>
            <a:pPr lvl="1"/>
            <a:r>
              <a:rPr lang="en-GB" sz="1800">
                <a:ea typeface="+mn-lt"/>
                <a:cs typeface="+mn-lt"/>
              </a:rPr>
              <a:t>Patch-level: H. pylori presence (binary)</a:t>
            </a:r>
          </a:p>
          <a:p>
            <a:pPr lvl="1"/>
            <a:r>
              <a:rPr lang="en-GB" sz="1800">
                <a:ea typeface="+mn-lt"/>
                <a:cs typeface="+mn-lt"/>
              </a:rPr>
              <a:t>Patient-level: infection density (NEGATIVA / BAIXA / ALTA), collapsed </a:t>
            </a:r>
            <a:r>
              <a:rPr lang="en-GB" sz="1800">
                <a:ea typeface="+mn-lt"/>
                <a:cs typeface="+mn-lt"/>
                <a:sym typeface="Wingdings" pitchFamily="2" charset="2"/>
              </a:rPr>
              <a:t>to binary for final diagnosis (BAIXA + ALTA → Positive)</a:t>
            </a:r>
            <a:endParaRPr lang="en-GB" sz="1800"/>
          </a:p>
          <a:p>
            <a:r>
              <a:rPr lang="en-GB" sz="2200">
                <a:ea typeface="+mn-lt"/>
                <a:cs typeface="+mn-lt"/>
              </a:rPr>
              <a:t>Cleaned to remove invalid labels and missing files</a:t>
            </a:r>
            <a:endParaRPr lang="en-GB">
              <a:ea typeface="+mn-lt"/>
              <a:cs typeface="+mn-lt"/>
            </a:endParaRPr>
          </a:p>
          <a:p>
            <a:r>
              <a:rPr lang="en-GB" sz="2200">
                <a:ea typeface="+mn-lt"/>
                <a:cs typeface="+mn-lt"/>
              </a:rPr>
              <a:t>Splits performed at patient level to prevent leakage</a:t>
            </a:r>
            <a:endParaRPr lang="en-GB">
              <a:ea typeface="+mn-lt"/>
              <a:cs typeface="+mn-lt"/>
            </a:endParaRPr>
          </a:p>
          <a:p>
            <a:endParaRPr lang="en-GB" sz="2200" dirty="0"/>
          </a:p>
          <a:p>
            <a:endParaRPr lang="en-GB" sz="2200"/>
          </a:p>
        </p:txBody>
      </p:sp>
    </p:spTree>
    <p:extLst>
      <p:ext uri="{BB962C8B-B14F-4D97-AF65-F5344CB8AC3E}">
        <p14:creationId xmlns:p14="http://schemas.microsoft.com/office/powerpoint/2010/main" val="3352654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75302E-316E-BB46-2D72-09AA5B668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FE1C3-58A7-3800-D3A4-C747EB7F6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065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96EE4-429D-F413-7A3F-AE698B1C4B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>
                <a:ea typeface="+mn-lt"/>
                <a:cs typeface="+mn-lt"/>
              </a:rPr>
              <a:t>Goal:</a:t>
            </a:r>
            <a:r>
              <a:rPr lang="en-US" dirty="0">
                <a:ea typeface="+mn-lt"/>
                <a:cs typeface="+mn-lt"/>
              </a:rPr>
              <a:t> accurate and conservative </a:t>
            </a:r>
            <a:r>
              <a:rPr lang="en-US" b="1" dirty="0">
                <a:ea typeface="+mn-lt"/>
                <a:cs typeface="+mn-lt"/>
              </a:rPr>
              <a:t>binary diagnosis</a:t>
            </a:r>
            <a:r>
              <a:rPr lang="en-US" dirty="0">
                <a:ea typeface="+mn-lt"/>
                <a:cs typeface="+mn-lt"/>
              </a:rPr>
              <a:t> at </a:t>
            </a:r>
            <a:r>
              <a:rPr lang="en-US" b="1" dirty="0">
                <a:ea typeface="+mn-lt"/>
                <a:cs typeface="+mn-lt"/>
              </a:rPr>
              <a:t>patient level</a:t>
            </a:r>
            <a:r>
              <a:rPr lang="en-US" dirty="0">
                <a:ea typeface="+mn-lt"/>
                <a:cs typeface="+mn-lt"/>
              </a:rPr>
              <a:t> (Positive vs Negative)</a:t>
            </a:r>
          </a:p>
          <a:p>
            <a:r>
              <a:rPr lang="en-US" b="1" dirty="0">
                <a:ea typeface="+mn-lt"/>
                <a:cs typeface="+mn-lt"/>
              </a:rPr>
              <a:t>Two-stage objective:</a:t>
            </a:r>
            <a:endParaRPr lang="en-US" dirty="0">
              <a:ea typeface="+mn-lt"/>
              <a:cs typeface="+mn-lt"/>
            </a:endParaRPr>
          </a:p>
          <a:p>
            <a:pPr lvl="1"/>
            <a:r>
              <a:rPr lang="en-US" b="1">
                <a:ea typeface="+mn-lt"/>
                <a:cs typeface="+mn-lt"/>
              </a:rPr>
              <a:t>Patch-level detection:</a:t>
            </a:r>
            <a:r>
              <a:rPr lang="en-US">
                <a:ea typeface="+mn-lt"/>
                <a:cs typeface="+mn-lt"/>
              </a:rPr>
              <a:t> estimate infection probability for patches</a:t>
            </a:r>
            <a:endParaRPr lang="en-US"/>
          </a:p>
          <a:p>
            <a:pPr lvl="1"/>
            <a:r>
              <a:rPr lang="en-US" b="1">
                <a:ea typeface="+mn-lt"/>
                <a:cs typeface="+mn-lt"/>
              </a:rPr>
              <a:t>Patient-level aggregation:</a:t>
            </a:r>
            <a:r>
              <a:rPr lang="en-US">
                <a:ea typeface="+mn-lt"/>
                <a:cs typeface="+mn-lt"/>
              </a:rPr>
              <a:t> convert patch evidence into a patient diagnosis</a:t>
            </a:r>
            <a:endParaRPr lang="en-US"/>
          </a:p>
          <a:p>
            <a:r>
              <a:rPr lang="en-US" b="1" dirty="0">
                <a:ea typeface="+mn-lt"/>
                <a:cs typeface="+mn-lt"/>
              </a:rPr>
              <a:t>Model comparison (patch level):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ResNet</a:t>
            </a:r>
            <a:r>
              <a:rPr lang="en-US" dirty="0">
                <a:ea typeface="+mn-lt"/>
                <a:cs typeface="+mn-lt"/>
              </a:rPr>
              <a:t> (Method 1) vs </a:t>
            </a:r>
            <a:r>
              <a:rPr lang="en-US" dirty="0" err="1">
                <a:ea typeface="+mn-lt"/>
                <a:cs typeface="+mn-lt"/>
              </a:rPr>
              <a:t>ConvNeXt</a:t>
            </a:r>
            <a:r>
              <a:rPr lang="en-US" dirty="0">
                <a:ea typeface="+mn-lt"/>
                <a:cs typeface="+mn-lt"/>
              </a:rPr>
              <a:t>-Tiny (Method 2)</a:t>
            </a:r>
            <a:endParaRPr lang="en-US"/>
          </a:p>
          <a:p>
            <a:r>
              <a:rPr lang="en-US" b="1">
                <a:ea typeface="+mn-lt"/>
                <a:cs typeface="+mn-lt"/>
              </a:rPr>
              <a:t>Evaluation:</a:t>
            </a:r>
            <a:r>
              <a:rPr lang="en-US">
                <a:ea typeface="+mn-lt"/>
                <a:cs typeface="+mn-lt"/>
              </a:rPr>
              <a:t> Accuracy / Macro-F1 / Balanced Accuracy on </a:t>
            </a:r>
            <a:r>
              <a:rPr lang="en-US" b="1">
                <a:ea typeface="+mn-lt"/>
                <a:cs typeface="+mn-lt"/>
              </a:rPr>
              <a:t>holdout patients</a:t>
            </a:r>
            <a:endParaRPr lang="en-US"/>
          </a:p>
          <a:p>
            <a:endParaRPr lang="en-US" dirty="0"/>
          </a:p>
          <a:p>
            <a:pPr lvl="1"/>
            <a:endParaRPr lang="en-US"/>
          </a:p>
          <a:p>
            <a:pPr lvl="1"/>
            <a:endParaRPr lang="en-US"/>
          </a:p>
          <a:p>
            <a:pPr lvl="1"/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0039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46ADB5-363E-D438-496C-E805A375E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DBFE2-5B08-5F7E-9C34-4E2880387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323" y="-120078"/>
            <a:ext cx="10515600" cy="1325563"/>
          </a:xfrm>
        </p:spPr>
        <p:txBody>
          <a:bodyPr/>
          <a:lstStyle/>
          <a:p>
            <a:r>
              <a:rPr lang="en-US"/>
              <a:t>Methodology Selection -- </a:t>
            </a:r>
            <a:r>
              <a:rPr lang="en-US" err="1"/>
              <a:t>ResNet</a:t>
            </a:r>
            <a:r>
              <a:rPr lang="en-US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55E001-F8E3-3896-F178-D3FED9B70D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415" y="1351222"/>
            <a:ext cx="8921155" cy="1951828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US" dirty="0" err="1">
                <a:ea typeface="+mn-lt"/>
                <a:cs typeface="+mn-lt"/>
              </a:rPr>
              <a:t>ResNet</a:t>
            </a:r>
            <a:r>
              <a:rPr lang="en-US" dirty="0">
                <a:ea typeface="+mn-lt"/>
                <a:cs typeface="+mn-lt"/>
              </a:rPr>
              <a:t>-type models have documented success in this task</a:t>
            </a:r>
          </a:p>
          <a:p>
            <a:r>
              <a:rPr lang="en-US">
                <a:ea typeface="+mn-lt"/>
                <a:cs typeface="+mn-lt"/>
              </a:rPr>
              <a:t>Prior work reports ResNet-101 achieving ~92% average accuracy for binary classification</a:t>
            </a:r>
            <a:endParaRPr lang="en-US"/>
          </a:p>
          <a:p>
            <a:r>
              <a:rPr lang="en-US" dirty="0">
                <a:ea typeface="+mn-lt"/>
                <a:cs typeface="+mn-lt"/>
              </a:rPr>
              <a:t>We use </a:t>
            </a:r>
            <a:r>
              <a:rPr lang="en-US" dirty="0" err="1">
                <a:ea typeface="+mn-lt"/>
                <a:cs typeface="+mn-lt"/>
              </a:rPr>
              <a:t>ResNet</a:t>
            </a:r>
            <a:r>
              <a:rPr lang="en-US" dirty="0">
                <a:ea typeface="+mn-lt"/>
                <a:cs typeface="+mn-lt"/>
              </a:rPr>
              <a:t> as the patch-level backbone and train a lightweight ResNet18 model to support WSI-scale patch inference</a:t>
            </a:r>
            <a:endParaRPr lang="en-US" dirty="0"/>
          </a:p>
          <a:p>
            <a:endParaRPr lang="en-US" dirty="0"/>
          </a:p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AC0420-4751-3DAD-30E1-FB800CED94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792" y="3427786"/>
            <a:ext cx="8990845" cy="3159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7713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FD50BE-5C4E-AF1A-0658-B6A778E10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9439A-C66F-B2B5-031F-8307200A8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2256" y="-16373"/>
            <a:ext cx="9795638" cy="1114380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5400"/>
              <a:t>Methodology Selection -- </a:t>
            </a:r>
            <a:r>
              <a:rPr lang="en-US" sz="5400" err="1"/>
              <a:t>ConvNeXT</a:t>
            </a:r>
            <a:endParaRPr lang="en-US" sz="52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B67880-AD02-8D91-59CD-32BDFED61FC1}"/>
              </a:ext>
            </a:extLst>
          </p:cNvPr>
          <p:cNvSpPr txBox="1"/>
          <p:nvPr/>
        </p:nvSpPr>
        <p:spPr>
          <a:xfrm>
            <a:off x="282256" y="1074509"/>
            <a:ext cx="11388813" cy="193899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/>
              <a:t>Based on vision transformers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/>
              <a:t>Larger kernels, non-overlapping, modernized improvement from </a:t>
            </a:r>
            <a:r>
              <a:rPr lang="en-US" sz="3000" err="1"/>
              <a:t>ResNet</a:t>
            </a:r>
            <a:endParaRPr lang="en-US" sz="3000"/>
          </a:p>
          <a:p>
            <a:endParaRPr lang="en-US" sz="3000"/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527054DC-C77B-47DC-A5D7-195BACC2241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AutoShape 6" descr="ConvNeXt: A Transformer-Inspired CNN Architecture | KUNGFU.AI Blog">
            <a:extLst>
              <a:ext uri="{FF2B5EF4-FFF2-40B4-BE49-F238E27FC236}">
                <a16:creationId xmlns:a16="http://schemas.microsoft.com/office/drawing/2014/main" id="{10C6E9E9-EEB9-1049-AB80-D04339CF77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F91570E-45A9-B951-D587-556A8D0CBC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2076" y="2454126"/>
            <a:ext cx="7332648" cy="4325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7495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BB29C28C-A96F-77AF-C659-09438D1FF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534" y="242030"/>
            <a:ext cx="10515600" cy="1325563"/>
          </a:xfrm>
        </p:spPr>
        <p:txBody>
          <a:bodyPr/>
          <a:lstStyle/>
          <a:p>
            <a:r>
              <a:rPr lang="en-US"/>
              <a:t>Methodology Overview</a:t>
            </a:r>
          </a:p>
        </p:txBody>
      </p:sp>
      <p:pic>
        <p:nvPicPr>
          <p:cNvPr id="12" name="Graphic 11" descr="Badge 1 with solid fill">
            <a:extLst>
              <a:ext uri="{FF2B5EF4-FFF2-40B4-BE49-F238E27FC236}">
                <a16:creationId xmlns:a16="http://schemas.microsoft.com/office/drawing/2014/main" id="{07245003-0A34-B229-2B21-ECD646B1F7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6050" y="1285678"/>
            <a:ext cx="914400" cy="914400"/>
          </a:xfrm>
          <a:prstGeom prst="rect">
            <a:avLst/>
          </a:prstGeom>
        </p:spPr>
      </p:pic>
      <p:pic>
        <p:nvPicPr>
          <p:cNvPr id="13" name="Graphic 12" descr="Badge with solid fill">
            <a:extLst>
              <a:ext uri="{FF2B5EF4-FFF2-40B4-BE49-F238E27FC236}">
                <a16:creationId xmlns:a16="http://schemas.microsoft.com/office/drawing/2014/main" id="{5F84BAAB-24A3-2221-E622-CE1EAB3A15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6050" y="2107010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6C38740-2ABC-26C3-F818-C13345218A2C}"/>
              </a:ext>
            </a:extLst>
          </p:cNvPr>
          <p:cNvSpPr txBox="1"/>
          <p:nvPr/>
        </p:nvSpPr>
        <p:spPr>
          <a:xfrm>
            <a:off x="1151456" y="1420818"/>
            <a:ext cx="804762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u="sng" err="1"/>
              <a:t>ResNet</a:t>
            </a:r>
            <a:r>
              <a:rPr lang="en-US" sz="3000"/>
              <a:t> with heuristic-based patient diagnosis</a:t>
            </a:r>
            <a:endParaRPr lang="en-US" sz="3000" b="1" u="sng">
              <a:solidFill>
                <a:schemeClr val="accent2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732842-40C3-AB5B-F563-E596CE4E7D26}"/>
              </a:ext>
            </a:extLst>
          </p:cNvPr>
          <p:cNvSpPr txBox="1"/>
          <p:nvPr/>
        </p:nvSpPr>
        <p:spPr>
          <a:xfrm>
            <a:off x="1351911" y="3429000"/>
            <a:ext cx="1025631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/>
              <a:t>Goal: </a:t>
            </a:r>
            <a:r>
              <a:rPr lang="en-US" sz="3000"/>
              <a:t>Per-patient </a:t>
            </a:r>
            <a:r>
              <a:rPr lang="en-US" sz="3000" b="1"/>
              <a:t>binary </a:t>
            </a:r>
            <a:r>
              <a:rPr lang="en-US" sz="3000"/>
              <a:t>diagnosis (positive / negative)</a:t>
            </a:r>
          </a:p>
          <a:p>
            <a:endParaRPr lang="en-US" sz="3000"/>
          </a:p>
          <a:p>
            <a:r>
              <a:rPr lang="en-US" sz="3000" b="1"/>
              <a:t>Why: </a:t>
            </a:r>
            <a:r>
              <a:rPr lang="en-US" sz="3000"/>
              <a:t>Compare different pretrained models, conservatively flag “low/</a:t>
            </a:r>
            <a:r>
              <a:rPr lang="en-US" sz="3000" err="1"/>
              <a:t>baixa</a:t>
            </a:r>
            <a:r>
              <a:rPr lang="en-US" sz="3000"/>
              <a:t>” patients as positive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7782B6-A8A4-C346-DCAE-8EB0DB7DB868}"/>
              </a:ext>
            </a:extLst>
          </p:cNvPr>
          <p:cNvSpPr txBox="1"/>
          <p:nvPr/>
        </p:nvSpPr>
        <p:spPr>
          <a:xfrm>
            <a:off x="1175455" y="2287211"/>
            <a:ext cx="782532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u="sng" err="1"/>
              <a:t>ConvNeXt</a:t>
            </a:r>
            <a:r>
              <a:rPr lang="en-US" sz="3000" u="sng"/>
              <a:t>-tiny</a:t>
            </a:r>
            <a:r>
              <a:rPr lang="en-US" sz="3000"/>
              <a:t> with RF-based diagnosis</a:t>
            </a:r>
            <a:endParaRPr lang="en-US" sz="3000" b="1" u="sng"/>
          </a:p>
        </p:txBody>
      </p:sp>
    </p:spTree>
    <p:extLst>
      <p:ext uri="{BB962C8B-B14F-4D97-AF65-F5344CB8AC3E}">
        <p14:creationId xmlns:p14="http://schemas.microsoft.com/office/powerpoint/2010/main" val="26341109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F7927C-1793-BE87-48EB-73E8FA9DC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74" name="Rectangle 2073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57B110-D5D4-F42D-4362-9F13761A2A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2256" y="-16373"/>
            <a:ext cx="9795638" cy="11143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/>
              <a:t>Method 1 Steps Overview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EB5E343-6A95-F818-8652-A4421533E3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3994" y="279400"/>
            <a:ext cx="3987800" cy="65786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37D45D0-81CB-7E09-4D17-7E26DC899661}"/>
              </a:ext>
            </a:extLst>
          </p:cNvPr>
          <p:cNvSpPr txBox="1"/>
          <p:nvPr/>
        </p:nvSpPr>
        <p:spPr>
          <a:xfrm>
            <a:off x="120207" y="1098009"/>
            <a:ext cx="8124892" cy="609397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b="1"/>
              <a:t>Step 1: Pre-process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000" b="1"/>
              <a:t> </a:t>
            </a:r>
            <a:r>
              <a:rPr lang="en-US" sz="3000"/>
              <a:t>Nvidia A40 GPU-optimized </a:t>
            </a:r>
            <a:r>
              <a:rPr lang="en-US" sz="3000" err="1"/>
              <a:t>Macenko</a:t>
            </a:r>
            <a:r>
              <a:rPr lang="en-US" sz="3000"/>
              <a:t> normalization, and augment patches dataset (Weakly Supervised Learning)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0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b="1"/>
              <a:t>Step 2: Training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000"/>
              <a:t> Pre-trained ResNet18 model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0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b="1"/>
              <a:t>Step 3: Patient-level pos/neg classification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000"/>
              <a:t>Logic gates</a:t>
            </a:r>
          </a:p>
          <a:p>
            <a:pPr lvl="1"/>
            <a:endParaRPr lang="en-US" sz="300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00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000"/>
          </a:p>
        </p:txBody>
      </p:sp>
    </p:spTree>
    <p:extLst>
      <p:ext uri="{BB962C8B-B14F-4D97-AF65-F5344CB8AC3E}">
        <p14:creationId xmlns:p14="http://schemas.microsoft.com/office/powerpoint/2010/main" val="21209605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A1FBA6-61DF-D305-F571-0D94B3FB0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213B3-9DFB-56B7-3427-167716A6E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2256" y="-16373"/>
            <a:ext cx="9795638" cy="11143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/>
              <a:t>Method 1 Details – Steps 1 + 2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4DF74FB-1135-C313-39B0-E6551F3AEF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77532" y="3359209"/>
            <a:ext cx="4420161" cy="34098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BC68EF2-CE73-CACC-178C-1499A75490C3}"/>
              </a:ext>
            </a:extLst>
          </p:cNvPr>
          <p:cNvSpPr txBox="1"/>
          <p:nvPr/>
        </p:nvSpPr>
        <p:spPr>
          <a:xfrm>
            <a:off x="267266" y="1142977"/>
            <a:ext cx="11787824" cy="224676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err="1"/>
              <a:t>Macenko</a:t>
            </a:r>
            <a:r>
              <a:rPr lang="en-US" sz="2800"/>
              <a:t> normalization and image transformation standardizes images to force model to detect true </a:t>
            </a:r>
            <a:r>
              <a:rPr lang="en-US" sz="2800" i="1"/>
              <a:t>H. pylori</a:t>
            </a:r>
            <a:r>
              <a:rPr lang="en-US" sz="2800"/>
              <a:t> features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/>
              <a:t>Augment data with additional samples to avoid overfitting and minimize impact of image artifacts (debris, etc.) (Train = 100k, Val = 30k)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/>
              <a:t>Trained on 15 epochs to maximize accuracy</a:t>
            </a:r>
          </a:p>
        </p:txBody>
      </p:sp>
      <p:pic>
        <p:nvPicPr>
          <p:cNvPr id="3" name="Imagen 2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246F7A79-DA24-1D0F-86A4-A40EFBB611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075" r="7143"/>
          <a:stretch>
            <a:fillRect/>
          </a:stretch>
        </p:blipFill>
        <p:spPr>
          <a:xfrm>
            <a:off x="5127625" y="3357563"/>
            <a:ext cx="6928825" cy="3400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74525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9715EA-567B-8F2A-65FB-B20CD0B63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3A275-8DE5-5CE7-C0AD-14FEB1D9B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2256" y="-16373"/>
            <a:ext cx="9795638" cy="11143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/>
              <a:t>Method 1 Details – Step 3 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903A53-B2D9-D874-BCF0-9F414968F33A}"/>
              </a:ext>
            </a:extLst>
          </p:cNvPr>
          <p:cNvSpPr txBox="1"/>
          <p:nvPr/>
        </p:nvSpPr>
        <p:spPr>
          <a:xfrm>
            <a:off x="282256" y="1074509"/>
            <a:ext cx="11388813" cy="378565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/>
              <a:t>Patient-level pos/neg rule classification based on 2 separate thresholds (OR gate):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000" b="1"/>
              <a:t>Density: </a:t>
            </a:r>
            <a:r>
              <a:rPr lang="en-US" sz="3000"/>
              <a:t>N≥40 patches with P &gt; 0.90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000" b="1"/>
              <a:t>Consistency: </a:t>
            </a:r>
            <a:r>
              <a:rPr lang="en-US" sz="3000"/>
              <a:t>mean probability across patient patches &gt; 0.88 and spread &lt; 20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b="1"/>
              <a:t>Why: </a:t>
            </a:r>
            <a:r>
              <a:rPr lang="en-US" sz="3000"/>
              <a:t>to reduce computation time (cost), clearly evaluate ResNet18 efficacy with simple final diagnostic</a:t>
            </a:r>
          </a:p>
          <a:p>
            <a:endParaRPr lang="en-US" sz="3000"/>
          </a:p>
        </p:txBody>
      </p:sp>
    </p:spTree>
    <p:extLst>
      <p:ext uri="{BB962C8B-B14F-4D97-AF65-F5344CB8AC3E}">
        <p14:creationId xmlns:p14="http://schemas.microsoft.com/office/powerpoint/2010/main" val="41092614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B953C1-17D9-D5FA-E8FF-7BCDB3A3C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1728-342B-F6C4-68E2-63A0E9D1E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2256" y="-16373"/>
            <a:ext cx="9795638" cy="1114380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5200"/>
              <a:t>Method 2 </a:t>
            </a:r>
            <a:r>
              <a:rPr lang="en-US" sz="5200" err="1"/>
              <a:t>ConvNeXt</a:t>
            </a:r>
            <a:r>
              <a:rPr lang="en-US" sz="5200"/>
              <a:t> Steps Overview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BCA501-5319-430D-EC18-01D84D204EE9}"/>
              </a:ext>
            </a:extLst>
          </p:cNvPr>
          <p:cNvSpPr txBox="1"/>
          <p:nvPr/>
        </p:nvSpPr>
        <p:spPr>
          <a:xfrm>
            <a:off x="282256" y="943024"/>
            <a:ext cx="11407996" cy="65556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b="1"/>
              <a:t>Step 1: Pre-process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000"/>
              <a:t>Industry-standard color jitter and transformations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sz="30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b="1"/>
              <a:t>Step 2: Training with </a:t>
            </a:r>
            <a:r>
              <a:rPr lang="en-US" sz="3000" b="1" err="1"/>
              <a:t>ConvNeXt</a:t>
            </a:r>
            <a:r>
              <a:rPr lang="en-US" sz="3000" b="1"/>
              <a:t>-Tiny model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000"/>
              <a:t>5-fold cross-validation based strictly on patient ID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sz="3000"/>
              <a:t>Result: 17-feature per-patient signature (max probability, kurtosis, etc.)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endParaRPr lang="en-US" sz="30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b="1"/>
              <a:t>Step 3: Patient-level +/- classification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000"/>
              <a:t>Random Forest ensemble: Leave-One-Patient-Out (LOPO) grid search for optimal decision boundaries</a:t>
            </a:r>
          </a:p>
          <a:p>
            <a:pPr lvl="1"/>
            <a:endParaRPr lang="en-US" sz="300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00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000"/>
          </a:p>
        </p:txBody>
      </p:sp>
    </p:spTree>
    <p:extLst>
      <p:ext uri="{BB962C8B-B14F-4D97-AF65-F5344CB8AC3E}">
        <p14:creationId xmlns:p14="http://schemas.microsoft.com/office/powerpoint/2010/main" val="5458511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9E26F6-70EC-0761-1F26-2FC1B183C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E139F-90DD-74BF-90E9-8BF8C2EC4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2256" y="-16373"/>
            <a:ext cx="9795638" cy="1114380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5200"/>
              <a:t>Method 2 </a:t>
            </a:r>
            <a:r>
              <a:rPr lang="en-US" sz="5200" err="1"/>
              <a:t>ConvNeXt</a:t>
            </a:r>
            <a:r>
              <a:rPr lang="en-US" sz="5200"/>
              <a:t> Steps Overview</a:t>
            </a:r>
          </a:p>
        </p:txBody>
      </p:sp>
      <p:pic>
        <p:nvPicPr>
          <p:cNvPr id="3" name="drawing">
            <a:extLst>
              <a:ext uri="{FF2B5EF4-FFF2-40B4-BE49-F238E27FC236}">
                <a16:creationId xmlns:a16="http://schemas.microsoft.com/office/drawing/2014/main" id="{AB460625-3BCA-CF33-29E9-E64FA786EC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2451" y="1577996"/>
            <a:ext cx="10787098" cy="4450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8568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3828D6-8BD1-EFCA-EAC9-256D68E50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7964424" cy="1481328"/>
          </a:xfrm>
        </p:spPr>
        <p:txBody>
          <a:bodyPr anchor="b">
            <a:normAutofit/>
          </a:bodyPr>
          <a:lstStyle/>
          <a:p>
            <a:r>
              <a:rPr lang="en-GB" sz="5000"/>
              <a:t>Experimental Design: Evaluation Metrics</a:t>
            </a:r>
            <a:endParaRPr lang="en-US" sz="5000"/>
          </a:p>
        </p:txBody>
      </p:sp>
      <p:sp>
        <p:nvSpPr>
          <p:cNvPr id="41" name="sketch line">
            <a:extLst>
              <a:ext uri="{FF2B5EF4-FFF2-40B4-BE49-F238E27FC236}">
                <a16:creationId xmlns:a16="http://schemas.microsoft.com/office/drawing/2014/main" id="{650D18FE-0824-4A46-B22C-A86B52E57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EB49A-E361-34FE-B214-216DB6B8B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5" y="2660904"/>
            <a:ext cx="10491493" cy="354787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sz="2500">
                <a:ea typeface="+mn-lt"/>
                <a:cs typeface="+mn-lt"/>
              </a:rPr>
              <a:t>Stage A: </a:t>
            </a:r>
            <a:r>
              <a:rPr lang="en-GB" sz="2500" b="1">
                <a:ea typeface="+mn-lt"/>
                <a:cs typeface="+mn-lt"/>
              </a:rPr>
              <a:t>patch-level</a:t>
            </a:r>
            <a:r>
              <a:rPr lang="en-GB" sz="2500">
                <a:ea typeface="+mn-lt"/>
                <a:cs typeface="+mn-lt"/>
              </a:rPr>
              <a:t> presence classification (validation/test)</a:t>
            </a:r>
            <a:endParaRPr lang="en-GB" sz="2500"/>
          </a:p>
          <a:p>
            <a:r>
              <a:rPr lang="en-GB" sz="2500">
                <a:ea typeface="+mn-lt"/>
                <a:cs typeface="+mn-lt"/>
              </a:rPr>
              <a:t>Stage B: </a:t>
            </a:r>
            <a:r>
              <a:rPr lang="en-GB" sz="2500" b="1">
                <a:ea typeface="+mn-lt"/>
                <a:cs typeface="+mn-lt"/>
              </a:rPr>
              <a:t>patient-level </a:t>
            </a:r>
            <a:r>
              <a:rPr lang="en-GB" sz="2500">
                <a:ea typeface="+mn-lt"/>
                <a:cs typeface="+mn-lt"/>
              </a:rPr>
              <a:t>(holdout, both binary and trinary)</a:t>
            </a:r>
            <a:endParaRPr lang="en-GB" sz="2500"/>
          </a:p>
          <a:p>
            <a:r>
              <a:rPr lang="en-GB" sz="2500">
                <a:ea typeface="+mn-lt"/>
                <a:cs typeface="+mn-lt"/>
              </a:rPr>
              <a:t>Metrics:</a:t>
            </a:r>
            <a:endParaRPr lang="en-GB" sz="2500"/>
          </a:p>
          <a:p>
            <a:pPr lvl="1"/>
            <a:r>
              <a:rPr lang="en-GB" sz="2500">
                <a:ea typeface="+mn-lt"/>
                <a:cs typeface="+mn-lt"/>
              </a:rPr>
              <a:t>Patch: Accuracy, F1, ROC-AUC, PR-AUC, confusion matrix</a:t>
            </a:r>
            <a:endParaRPr lang="en-GB" sz="2500"/>
          </a:p>
          <a:p>
            <a:pPr lvl="1"/>
            <a:r>
              <a:rPr lang="en-GB" sz="2500">
                <a:ea typeface="+mn-lt"/>
                <a:cs typeface="+mn-lt"/>
              </a:rPr>
              <a:t>Patient: Accuracy, Precision-Recall, ROC/AUC, confusion matrix</a:t>
            </a:r>
            <a:endParaRPr lang="en-GB" sz="2500"/>
          </a:p>
        </p:txBody>
      </p:sp>
    </p:spTree>
    <p:extLst>
      <p:ext uri="{BB962C8B-B14F-4D97-AF65-F5344CB8AC3E}">
        <p14:creationId xmlns:p14="http://schemas.microsoft.com/office/powerpoint/2010/main" val="8932311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5F5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6B30B8-9017-5A3B-92A1-2C3E78D44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11481-BCA3-D4D2-2985-D914B7C3A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152" y="0"/>
            <a:ext cx="10515600" cy="1325563"/>
          </a:xfrm>
        </p:spPr>
        <p:txBody>
          <a:bodyPr/>
          <a:lstStyle/>
          <a:p>
            <a:r>
              <a:rPr lang="en-US"/>
              <a:t>Results Overview – Patch and Patient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01578B1-62A3-D90C-57D7-987CD19C49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352" y="1537756"/>
            <a:ext cx="10856064" cy="354569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sz="2500">
                <a:ea typeface="+mn-lt"/>
                <a:cs typeface="+mn-lt"/>
              </a:rPr>
              <a:t>Patch level</a:t>
            </a:r>
          </a:p>
          <a:p>
            <a:pPr lvl="1"/>
            <a:r>
              <a:rPr lang="en-GB" sz="2500">
                <a:ea typeface="+mn-lt"/>
                <a:cs typeface="+mn-lt"/>
              </a:rPr>
              <a:t>Method 1 </a:t>
            </a:r>
            <a:r>
              <a:rPr lang="en-GB" sz="2500" err="1">
                <a:ea typeface="+mn-lt"/>
                <a:cs typeface="+mn-lt"/>
              </a:rPr>
              <a:t>ResNet</a:t>
            </a:r>
            <a:r>
              <a:rPr lang="en-GB" sz="2500">
                <a:ea typeface="+mn-lt"/>
                <a:cs typeface="+mn-lt"/>
              </a:rPr>
              <a:t> model performs poorly, ~50% accuracy</a:t>
            </a:r>
          </a:p>
          <a:p>
            <a:pPr lvl="1"/>
            <a:r>
              <a:rPr lang="en-US" sz="2500"/>
              <a:t>Method 2 </a:t>
            </a:r>
            <a:r>
              <a:rPr lang="en-US" sz="2500" err="1"/>
              <a:t>ConvNeXt</a:t>
            </a:r>
            <a:r>
              <a:rPr lang="en-US" sz="2500"/>
              <a:t> outperforms, 67.2%</a:t>
            </a:r>
          </a:p>
          <a:p>
            <a:pPr lvl="1"/>
            <a:endParaRPr lang="en-US" sz="2500"/>
          </a:p>
          <a:p>
            <a:r>
              <a:rPr lang="en-GB" sz="2500"/>
              <a:t>Patient level</a:t>
            </a:r>
            <a:endParaRPr lang="en-US" sz="2500"/>
          </a:p>
          <a:p>
            <a:pPr lvl="1"/>
            <a:r>
              <a:rPr lang="en-GB" sz="2500"/>
              <a:t>Method 1 </a:t>
            </a:r>
            <a:r>
              <a:rPr lang="en-GB" sz="2500" err="1"/>
              <a:t>ResNet</a:t>
            </a:r>
            <a:r>
              <a:rPr lang="en-GB" sz="2500"/>
              <a:t> model performs poorly, 70.7% accuracy</a:t>
            </a:r>
            <a:endParaRPr lang="en-US" sz="2500"/>
          </a:p>
          <a:p>
            <a:pPr lvl="1"/>
            <a:r>
              <a:rPr lang="en-US" sz="2500"/>
              <a:t>Method 2 </a:t>
            </a:r>
            <a:r>
              <a:rPr lang="en-US" sz="2500" err="1"/>
              <a:t>ConvNeXt</a:t>
            </a:r>
            <a:r>
              <a:rPr lang="en-US" sz="2500"/>
              <a:t> outperforms, 92.4%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0301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51E7BC-B0F2-C3A8-63E2-FBCF04343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79E17-236A-6E63-F8FF-C80AD64F6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152" y="0"/>
            <a:ext cx="10515600" cy="1325563"/>
          </a:xfrm>
        </p:spPr>
        <p:txBody>
          <a:bodyPr/>
          <a:lstStyle/>
          <a:p>
            <a:r>
              <a:rPr lang="en-US"/>
              <a:t>Learning Curves</a:t>
            </a:r>
          </a:p>
        </p:txBody>
      </p:sp>
      <p:pic>
        <p:nvPicPr>
          <p:cNvPr id="10" name="Imatge 9" descr="Imatge que conté text, diagrama, línia, Trama&#10;&#10;Pot ser que el contingut generat per IA no sigui correcte.">
            <a:extLst>
              <a:ext uri="{FF2B5EF4-FFF2-40B4-BE49-F238E27FC236}">
                <a16:creationId xmlns:a16="http://schemas.microsoft.com/office/drawing/2014/main" id="{A80C666B-356A-5D40-B090-6F3C59735D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84" t="4025" r="8129" b="5263"/>
          <a:stretch>
            <a:fillRect/>
          </a:stretch>
        </p:blipFill>
        <p:spPr>
          <a:xfrm>
            <a:off x="5594311" y="3945185"/>
            <a:ext cx="6304837" cy="2828131"/>
          </a:xfrm>
          <a:prstGeom prst="rect">
            <a:avLst/>
          </a:prstGeom>
        </p:spPr>
      </p:pic>
      <p:pic>
        <p:nvPicPr>
          <p:cNvPr id="11" name="Imatge 10" descr="Imatge que conté text, diagrama, Trama, línia&#10;&#10;Pot ser que el contingut generat per IA no sigui correcte.">
            <a:extLst>
              <a:ext uri="{FF2B5EF4-FFF2-40B4-BE49-F238E27FC236}">
                <a16:creationId xmlns:a16="http://schemas.microsoft.com/office/drawing/2014/main" id="{55CF607F-ED73-D8CC-7377-1D84316690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200" t="4153" r="7333" b="1917"/>
          <a:stretch>
            <a:fillRect/>
          </a:stretch>
        </p:blipFill>
        <p:spPr>
          <a:xfrm>
            <a:off x="155152" y="1049867"/>
            <a:ext cx="6034406" cy="2832444"/>
          </a:xfrm>
          <a:prstGeom prst="rect">
            <a:avLst/>
          </a:prstGeom>
        </p:spPr>
      </p:pic>
      <p:sp>
        <p:nvSpPr>
          <p:cNvPr id="12" name="QuadreDeText 11">
            <a:extLst>
              <a:ext uri="{FF2B5EF4-FFF2-40B4-BE49-F238E27FC236}">
                <a16:creationId xmlns:a16="http://schemas.microsoft.com/office/drawing/2014/main" id="{21F6ADD1-C86E-0F38-1F4B-1FFDD58EE42E}"/>
              </a:ext>
            </a:extLst>
          </p:cNvPr>
          <p:cNvSpPr txBox="1"/>
          <p:nvPr/>
        </p:nvSpPr>
        <p:spPr>
          <a:xfrm>
            <a:off x="1803721" y="3945038"/>
            <a:ext cx="32987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ca-ES"/>
              <a:t>Method 1 ResNet</a:t>
            </a:r>
          </a:p>
        </p:txBody>
      </p:sp>
      <p:sp>
        <p:nvSpPr>
          <p:cNvPr id="13" name="QuadreDeText 12">
            <a:extLst>
              <a:ext uri="{FF2B5EF4-FFF2-40B4-BE49-F238E27FC236}">
                <a16:creationId xmlns:a16="http://schemas.microsoft.com/office/drawing/2014/main" id="{AB6F329E-E10C-5431-7B9B-517B25CB80A3}"/>
              </a:ext>
            </a:extLst>
          </p:cNvPr>
          <p:cNvSpPr txBox="1"/>
          <p:nvPr/>
        </p:nvSpPr>
        <p:spPr>
          <a:xfrm>
            <a:off x="7822555" y="3510987"/>
            <a:ext cx="32987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ca-ES"/>
              <a:t>Method 2 ConvNeXt</a:t>
            </a:r>
          </a:p>
        </p:txBody>
      </p:sp>
    </p:spTree>
    <p:extLst>
      <p:ext uri="{BB962C8B-B14F-4D97-AF65-F5344CB8AC3E}">
        <p14:creationId xmlns:p14="http://schemas.microsoft.com/office/powerpoint/2010/main" val="7866011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E1568-1ADF-E14C-5869-6889CFE441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152" y="0"/>
            <a:ext cx="10515600" cy="1325563"/>
          </a:xfrm>
        </p:spPr>
        <p:txBody>
          <a:bodyPr/>
          <a:lstStyle/>
          <a:p>
            <a:r>
              <a:rPr lang="en-US"/>
              <a:t>Patch Level - Confusion Matrix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EEBFB18-4A43-F10F-8147-3CFC1669B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616" y="1225673"/>
            <a:ext cx="5153721" cy="767182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GB" sz="2500" err="1">
                <a:ea typeface="+mn-lt"/>
                <a:cs typeface="+mn-lt"/>
              </a:rPr>
              <a:t>ResNet</a:t>
            </a:r>
            <a:r>
              <a:rPr lang="en-GB" sz="2500">
                <a:ea typeface="+mn-lt"/>
                <a:cs typeface="+mn-lt"/>
              </a:rPr>
              <a:t> patch-level holdout result: 51.9% accuracy</a:t>
            </a:r>
            <a:endParaRPr lang="ca-ES"/>
          </a:p>
          <a:p>
            <a:endParaRPr lang="en-GB" sz="250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2BCEE66-6E6E-2087-4D1E-EF4A9668C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319" y="2215579"/>
            <a:ext cx="4304734" cy="324248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101DA6A-6684-A24C-0F0C-07BFB9E16E78}"/>
              </a:ext>
            </a:extLst>
          </p:cNvPr>
          <p:cNvSpPr txBox="1">
            <a:spLocks/>
          </p:cNvSpPr>
          <p:nvPr/>
        </p:nvSpPr>
        <p:spPr>
          <a:xfrm>
            <a:off x="1831871" y="5426165"/>
            <a:ext cx="1978099" cy="1013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55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Method 1 (</a:t>
            </a:r>
            <a:r>
              <a:rPr lang="en-US" sz="1550" err="1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ResNet</a:t>
            </a:r>
            <a:r>
              <a:rPr lang="en-US" sz="155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)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1FBE12A-1E4F-D416-5783-C1EC90A61264}"/>
              </a:ext>
            </a:extLst>
          </p:cNvPr>
          <p:cNvSpPr txBox="1">
            <a:spLocks/>
          </p:cNvSpPr>
          <p:nvPr/>
        </p:nvSpPr>
        <p:spPr>
          <a:xfrm>
            <a:off x="7285466" y="5442343"/>
            <a:ext cx="2284757" cy="9765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550" err="1"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 panose="020B0604030504040204" pitchFamily="34" charset="0"/>
              </a:rPr>
              <a:t>Method </a:t>
            </a:r>
            <a:r>
              <a:rPr lang="en-US" sz="1550"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 panose="020B0604030504040204" pitchFamily="34" charset="0"/>
              </a:rPr>
              <a:t>2 </a:t>
            </a:r>
            <a:endParaRPr lang="ca-ES"/>
          </a:p>
          <a:p>
            <a:pPr algn="ctr"/>
            <a:r>
              <a:rPr lang="en-US" sz="1550"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 panose="020B0604030504040204" pitchFamily="34" charset="0"/>
              </a:rPr>
              <a:t>(</a:t>
            </a:r>
            <a:r>
              <a:rPr lang="en-US" sz="1550" err="1"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 panose="020B0604030504040204" pitchFamily="34" charset="0"/>
              </a:rPr>
              <a:t>ConvNeX</a:t>
            </a:r>
            <a:r>
              <a:rPr lang="es-ES" sz="1550">
                <a:solidFill>
                  <a:schemeClr val="tx1">
                    <a:lumMod val="75000"/>
                    <a:lumOff val="25000"/>
                  </a:schemeClr>
                </a:solidFill>
                <a:latin typeface="Verdana"/>
                <a:ea typeface="Verdana"/>
                <a:cs typeface="Verdana" panose="020B0604030504040204" pitchFamily="34" charset="0"/>
              </a:rPr>
              <a:t>t)</a:t>
            </a:r>
            <a:endParaRPr lang="en-US" sz="1550">
              <a:solidFill>
                <a:schemeClr val="tx1">
                  <a:lumMod val="75000"/>
                  <a:lumOff val="25000"/>
                </a:schemeClr>
              </a:solidFill>
              <a:latin typeface="Verdana"/>
              <a:ea typeface="Verdana"/>
              <a:cs typeface="Verdana" panose="020B0604030504040204" pitchFamily="34" charset="0"/>
            </a:endParaRPr>
          </a:p>
        </p:txBody>
      </p:sp>
      <p:pic>
        <p:nvPicPr>
          <p:cNvPr id="11" name="Imatge 10" descr="Imatge que conté text, captura de pantalla, diagrama, nombre&#10;&#10;Pot ser que el contingut generat per IA no sigui correcte.">
            <a:extLst>
              <a:ext uri="{FF2B5EF4-FFF2-40B4-BE49-F238E27FC236}">
                <a16:creationId xmlns:a16="http://schemas.microsoft.com/office/drawing/2014/main" id="{98DB21B7-64A5-8F4F-E398-790AF03F5B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7050" y="2243254"/>
            <a:ext cx="3705225" cy="2771775"/>
          </a:xfrm>
          <a:prstGeom prst="rect">
            <a:avLst/>
          </a:prstGeom>
        </p:spPr>
      </p:pic>
      <p:pic>
        <p:nvPicPr>
          <p:cNvPr id="7" name="Imatge 6" descr="Imatge que conté text, captura de pantalla, diagrama, Font&#10;&#10;Pot ser que el contingut generat per IA no sigui correcte.">
            <a:extLst>
              <a:ext uri="{FF2B5EF4-FFF2-40B4-BE49-F238E27FC236}">
                <a16:creationId xmlns:a16="http://schemas.microsoft.com/office/drawing/2014/main" id="{A7B8CEBF-7759-98F1-3340-BCD62BFA5E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8462" y="2239536"/>
            <a:ext cx="3707782" cy="2778514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87CB16B-AC01-AA01-D01F-41951B8C1D0E}"/>
              </a:ext>
            </a:extLst>
          </p:cNvPr>
          <p:cNvSpPr txBox="1">
            <a:spLocks/>
          </p:cNvSpPr>
          <p:nvPr/>
        </p:nvSpPr>
        <p:spPr>
          <a:xfrm>
            <a:off x="5972309" y="1229390"/>
            <a:ext cx="5153721" cy="767182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500" err="1">
                <a:ea typeface="+mn-lt"/>
                <a:cs typeface="+mn-lt"/>
              </a:rPr>
              <a:t>ConvNeXt</a:t>
            </a:r>
            <a:r>
              <a:rPr lang="en-GB" sz="2500">
                <a:ea typeface="+mn-lt"/>
                <a:cs typeface="+mn-lt"/>
              </a:rPr>
              <a:t> patch-level holdout result: 67.2% accuracy average</a:t>
            </a:r>
            <a:endParaRPr lang="ca-ES"/>
          </a:p>
          <a:p>
            <a:endParaRPr lang="en-GB" sz="2500"/>
          </a:p>
        </p:txBody>
      </p:sp>
    </p:spTree>
    <p:extLst>
      <p:ext uri="{BB962C8B-B14F-4D97-AF65-F5344CB8AC3E}">
        <p14:creationId xmlns:p14="http://schemas.microsoft.com/office/powerpoint/2010/main" val="22382649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34FED0-284E-A214-4E6D-12E0ED6C1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6D229-F22B-AE50-8ECB-0B7331A31A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823" y="-250785"/>
            <a:ext cx="10515600" cy="1325563"/>
          </a:xfrm>
        </p:spPr>
        <p:txBody>
          <a:bodyPr/>
          <a:lstStyle/>
          <a:p>
            <a:r>
              <a:rPr lang="en-US"/>
              <a:t>Patch Level – Grad-CAM Images</a:t>
            </a:r>
          </a:p>
        </p:txBody>
      </p:sp>
      <p:pic>
        <p:nvPicPr>
          <p:cNvPr id="9" name="Contenidor de contingut 8" descr="Imatge que conté captura de pantalla, Gràfics, Saturació cromàtica, disseny&#10;&#10;Pot ser que el contingut generat per IA no sigui correcte.">
            <a:extLst>
              <a:ext uri="{FF2B5EF4-FFF2-40B4-BE49-F238E27FC236}">
                <a16:creationId xmlns:a16="http://schemas.microsoft.com/office/drawing/2014/main" id="{D79937F5-D22A-2ACC-8D72-807C5A13B9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9553" t="7055" r="7550" b="10123"/>
          <a:stretch>
            <a:fillRect/>
          </a:stretch>
        </p:blipFill>
        <p:spPr>
          <a:xfrm>
            <a:off x="6324238" y="1144156"/>
            <a:ext cx="5646661" cy="2828930"/>
          </a:xfrm>
          <a:prstGeom prst="rect">
            <a:avLst/>
          </a:prstGeom>
        </p:spPr>
      </p:pic>
      <p:pic>
        <p:nvPicPr>
          <p:cNvPr id="11" name="Imatge 10" descr="Imatge que conté captura de pantalla, Saturació cromàtica, mapa&#10;&#10;Pot ser que el contingut generat per IA no sigui correcte.">
            <a:extLst>
              <a:ext uri="{FF2B5EF4-FFF2-40B4-BE49-F238E27FC236}">
                <a16:creationId xmlns:a16="http://schemas.microsoft.com/office/drawing/2014/main" id="{59E1ED67-5CEC-450D-C0D9-EA6682AB7F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347" t="7692" r="7185" b="10526"/>
          <a:stretch>
            <a:fillRect/>
          </a:stretch>
        </p:blipFill>
        <p:spPr>
          <a:xfrm>
            <a:off x="6339550" y="3989649"/>
            <a:ext cx="5637737" cy="2833828"/>
          </a:xfrm>
          <a:prstGeom prst="rect">
            <a:avLst/>
          </a:prstGeom>
        </p:spPr>
      </p:pic>
      <p:pic>
        <p:nvPicPr>
          <p:cNvPr id="12" name="Imatge 11" descr="Imatge que conté captura de pantalla, Gràfics, diagrama, Saturació cromàtica&#10;&#10;Pot ser que el contingut generat per IA no sigui correcte.">
            <a:extLst>
              <a:ext uri="{FF2B5EF4-FFF2-40B4-BE49-F238E27FC236}">
                <a16:creationId xmlns:a16="http://schemas.microsoft.com/office/drawing/2014/main" id="{16091B2B-D361-65EB-5648-A8381904164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841" t="8907" r="8511" b="11741"/>
          <a:stretch>
            <a:fillRect/>
          </a:stretch>
        </p:blipFill>
        <p:spPr>
          <a:xfrm>
            <a:off x="282132" y="3999294"/>
            <a:ext cx="5636911" cy="2833894"/>
          </a:xfrm>
          <a:prstGeom prst="rect">
            <a:avLst/>
          </a:prstGeom>
        </p:spPr>
      </p:pic>
      <p:pic>
        <p:nvPicPr>
          <p:cNvPr id="13" name="Imatge 12" descr="Imatge que conté captura de pantalla, Saturació cromàtica, Gràfics, visualització&#10;&#10;Pot ser que el contingut generat per IA no sigui correcte.">
            <a:extLst>
              <a:ext uri="{FF2B5EF4-FFF2-40B4-BE49-F238E27FC236}">
                <a16:creationId xmlns:a16="http://schemas.microsoft.com/office/drawing/2014/main" id="{59D06E83-0FFC-95D9-CEEE-152038E4CF1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841" t="9109" r="8604" b="11943"/>
          <a:stretch>
            <a:fillRect/>
          </a:stretch>
        </p:blipFill>
        <p:spPr>
          <a:xfrm>
            <a:off x="282132" y="1144206"/>
            <a:ext cx="5637698" cy="2833898"/>
          </a:xfrm>
          <a:prstGeom prst="rect">
            <a:avLst/>
          </a:prstGeom>
        </p:spPr>
      </p:pic>
      <p:sp>
        <p:nvSpPr>
          <p:cNvPr id="14" name="QuadreDeText 13">
            <a:extLst>
              <a:ext uri="{FF2B5EF4-FFF2-40B4-BE49-F238E27FC236}">
                <a16:creationId xmlns:a16="http://schemas.microsoft.com/office/drawing/2014/main" id="{4F95B6AD-5C9D-3844-C88E-CA2E097E4996}"/>
              </a:ext>
            </a:extLst>
          </p:cNvPr>
          <p:cNvSpPr txBox="1"/>
          <p:nvPr/>
        </p:nvSpPr>
        <p:spPr>
          <a:xfrm>
            <a:off x="2006279" y="781291"/>
            <a:ext cx="192911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ca-ES"/>
              <a:t>Method 1 ResNet</a:t>
            </a:r>
          </a:p>
        </p:txBody>
      </p:sp>
      <p:sp>
        <p:nvSpPr>
          <p:cNvPr id="15" name="QuadreDeText 14">
            <a:extLst>
              <a:ext uri="{FF2B5EF4-FFF2-40B4-BE49-F238E27FC236}">
                <a16:creationId xmlns:a16="http://schemas.microsoft.com/office/drawing/2014/main" id="{E2E1B7DD-87CE-E2AF-831E-782251DCB9C7}"/>
              </a:ext>
            </a:extLst>
          </p:cNvPr>
          <p:cNvSpPr txBox="1"/>
          <p:nvPr/>
        </p:nvSpPr>
        <p:spPr>
          <a:xfrm>
            <a:off x="8266253" y="781290"/>
            <a:ext cx="231493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ca-ES"/>
              <a:t>Method 2 ConvNeXt</a:t>
            </a:r>
          </a:p>
        </p:txBody>
      </p:sp>
    </p:spTree>
    <p:extLst>
      <p:ext uri="{BB962C8B-B14F-4D97-AF65-F5344CB8AC3E}">
        <p14:creationId xmlns:p14="http://schemas.microsoft.com/office/powerpoint/2010/main" val="26071229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39AA16-2F4F-F75E-1175-EFFFB8DBE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A0621-7D01-3D9C-9FBD-76124A053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452" y="-76200"/>
            <a:ext cx="12065000" cy="1325563"/>
          </a:xfrm>
        </p:spPr>
        <p:txBody>
          <a:bodyPr/>
          <a:lstStyle/>
          <a:p>
            <a:r>
              <a:rPr lang="en-US"/>
              <a:t>Method 1 </a:t>
            </a:r>
            <a:r>
              <a:rPr lang="en-US" err="1"/>
              <a:t>ResNet</a:t>
            </a:r>
            <a:r>
              <a:rPr lang="en-US"/>
              <a:t> Patient Level Results – ROC + PR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37C5DB4-6888-6701-1857-EFD8BD5D0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47750"/>
            <a:ext cx="114300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5103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037F09-78EC-6EFB-CC72-5581EED80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5E171-B589-191A-E4AC-162E90EF0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7802" y="447675"/>
            <a:ext cx="11791950" cy="658813"/>
          </a:xfrm>
        </p:spPr>
        <p:txBody>
          <a:bodyPr>
            <a:normAutofit fontScale="90000"/>
          </a:bodyPr>
          <a:lstStyle/>
          <a:p>
            <a:r>
              <a:rPr lang="en-US"/>
              <a:t>Method 2 ConvNeXt Patient Level Results – ROC + PR </a:t>
            </a:r>
          </a:p>
        </p:txBody>
      </p:sp>
      <p:pic>
        <p:nvPicPr>
          <p:cNvPr id="5" name="Contenidor de contingut 4" descr="Imatge que conté text, línia, captura de pantalla, Trama&#10;&#10;Pot ser que el contingut generat per IA no sigui correcte.">
            <a:extLst>
              <a:ext uri="{FF2B5EF4-FFF2-40B4-BE49-F238E27FC236}">
                <a16:creationId xmlns:a16="http://schemas.microsoft.com/office/drawing/2014/main" id="{9EE7A83B-1F3F-22BA-AA80-92411BA728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1776" y="1488553"/>
            <a:ext cx="5802351" cy="4402872"/>
          </a:xfrm>
          <a:prstGeom prst="rect">
            <a:avLst/>
          </a:prstGeom>
        </p:spPr>
      </p:pic>
      <p:pic>
        <p:nvPicPr>
          <p:cNvPr id="6" name="Imatge 5" descr="Imatge que conté text, captura de pantalla, pantalla, nombre&#10;&#10;Pot ser que el contingut generat per IA no sigui correcte.">
            <a:extLst>
              <a:ext uri="{FF2B5EF4-FFF2-40B4-BE49-F238E27FC236}">
                <a16:creationId xmlns:a16="http://schemas.microsoft.com/office/drawing/2014/main" id="{32335CC6-4815-E536-CC44-7035158A3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8024" y="1486829"/>
            <a:ext cx="5872976" cy="4404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83255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0ED244-FDF5-B88B-FB0D-69912DAA5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0BB01-7701-58E4-3751-3F0FDDB03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152" y="0"/>
            <a:ext cx="10515600" cy="1325563"/>
          </a:xfrm>
        </p:spPr>
        <p:txBody>
          <a:bodyPr/>
          <a:lstStyle/>
          <a:p>
            <a:r>
              <a:rPr lang="en-US"/>
              <a:t>Patient Level – Confusion Matrix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1B52A43-3635-FA85-A098-0F89A1DD7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4972" y="1249363"/>
            <a:ext cx="5629900" cy="370695"/>
          </a:xfrm>
        </p:spPr>
        <p:txBody>
          <a:bodyPr vert="horz" lIns="91440" tIns="45720" rIns="91440" bIns="45720" rtlCol="0" anchor="t">
            <a:normAutofit fontScale="85000" lnSpcReduction="10000"/>
          </a:bodyPr>
          <a:lstStyle/>
          <a:p>
            <a:r>
              <a:rPr lang="en-GB" sz="2500" err="1">
                <a:ea typeface="+mn-lt"/>
                <a:cs typeface="+mn-lt"/>
              </a:rPr>
              <a:t>ConvNeXt</a:t>
            </a:r>
            <a:r>
              <a:rPr lang="en-GB" sz="2500">
                <a:ea typeface="+mn-lt"/>
                <a:cs typeface="+mn-lt"/>
              </a:rPr>
              <a:t> patient-level holdout result: 93.1% </a:t>
            </a:r>
          </a:p>
          <a:p>
            <a:endParaRPr lang="en-GB" sz="25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6AF9578-7A54-A5F5-3CB6-FAAA402F55A5}"/>
              </a:ext>
            </a:extLst>
          </p:cNvPr>
          <p:cNvSpPr txBox="1">
            <a:spLocks/>
          </p:cNvSpPr>
          <p:nvPr/>
        </p:nvSpPr>
        <p:spPr>
          <a:xfrm>
            <a:off x="2481739" y="6038553"/>
            <a:ext cx="1978099" cy="1013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550" err="1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ResNet</a:t>
            </a:r>
            <a:endParaRPr lang="en-US" sz="1550">
              <a:solidFill>
                <a:schemeClr val="tx1">
                  <a:lumMod val="75000"/>
                  <a:lumOff val="2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CE45AD5-4870-7ADC-0C8B-F82FB23AACA0}"/>
              </a:ext>
            </a:extLst>
          </p:cNvPr>
          <p:cNvSpPr txBox="1">
            <a:spLocks/>
          </p:cNvSpPr>
          <p:nvPr/>
        </p:nvSpPr>
        <p:spPr>
          <a:xfrm>
            <a:off x="8361869" y="6057891"/>
            <a:ext cx="1978099" cy="1013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550" err="1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ConvNeX</a:t>
            </a:r>
            <a:r>
              <a:rPr lang="es-ES" sz="155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</a:t>
            </a:r>
            <a:endParaRPr lang="en-US" sz="1550">
              <a:solidFill>
                <a:schemeClr val="tx1">
                  <a:lumMod val="75000"/>
                  <a:lumOff val="2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7" name="Imagen 4" descr="Gráfico, Gráfico de rectángulos&#10;&#10;El contenido generado por IA puede ser incorrecto.">
            <a:extLst>
              <a:ext uri="{FF2B5EF4-FFF2-40B4-BE49-F238E27FC236}">
                <a16:creationId xmlns:a16="http://schemas.microsoft.com/office/drawing/2014/main" id="{68B0D4BC-7298-FA11-761E-16DDC05F4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5" y="1716086"/>
            <a:ext cx="5906453" cy="4492625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780B721-908E-26F9-BA67-16D84844A43A}"/>
              </a:ext>
            </a:extLst>
          </p:cNvPr>
          <p:cNvSpPr txBox="1">
            <a:spLocks/>
          </p:cNvSpPr>
          <p:nvPr/>
        </p:nvSpPr>
        <p:spPr>
          <a:xfrm>
            <a:off x="456172" y="1249363"/>
            <a:ext cx="5363200" cy="434195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500" err="1">
                <a:ea typeface="+mn-lt"/>
                <a:cs typeface="+mn-lt"/>
              </a:rPr>
              <a:t>ResNet</a:t>
            </a:r>
            <a:r>
              <a:rPr lang="en-GB" sz="2500">
                <a:ea typeface="+mn-lt"/>
                <a:cs typeface="+mn-lt"/>
              </a:rPr>
              <a:t> patient-level holdout result: 70.7% </a:t>
            </a:r>
            <a:endParaRPr lang="ca-ES"/>
          </a:p>
          <a:p>
            <a:endParaRPr lang="en-GB" sz="2500"/>
          </a:p>
        </p:txBody>
      </p:sp>
      <p:pic>
        <p:nvPicPr>
          <p:cNvPr id="8" name="Imatge 7" descr="Imatge que conté text, captura de pantalla, diagrama, Rectangle&#10;&#10;Pot ser que el contingut generat per IA no sigui correcte.">
            <a:extLst>
              <a:ext uri="{FF2B5EF4-FFF2-40B4-BE49-F238E27FC236}">
                <a16:creationId xmlns:a16="http://schemas.microsoft.com/office/drawing/2014/main" id="{AC6BE805-72C8-F210-1E99-090E9AB138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1701800"/>
            <a:ext cx="5981700" cy="449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2757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EC7DDB-A90C-057D-8A65-4687DF403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90E2D-1669-C3B5-E75C-3900E43ED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152" y="0"/>
            <a:ext cx="10515600" cy="1325563"/>
          </a:xfrm>
        </p:spPr>
        <p:txBody>
          <a:bodyPr/>
          <a:lstStyle/>
          <a:p>
            <a:r>
              <a:rPr lang="en-US"/>
              <a:t>Patient Level – Clinical Feature Importance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B657AA-1158-A732-0099-F9B454F31F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933" y="1260514"/>
            <a:ext cx="7547600" cy="354569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sz="2500">
                <a:ea typeface="+mn-lt"/>
                <a:cs typeface="+mn-lt"/>
              </a:rPr>
              <a:t>Max Probability of single patch is strongest indicator</a:t>
            </a:r>
          </a:p>
          <a:p>
            <a:endParaRPr lang="en-GB" sz="2500">
              <a:solidFill>
                <a:srgbClr val="000000"/>
              </a:solidFill>
            </a:endParaRPr>
          </a:p>
        </p:txBody>
      </p:sp>
      <p:pic>
        <p:nvPicPr>
          <p:cNvPr id="3" name="Imatge 2" descr="Imatge que conté text, captura de pantalla, Trama, diagrama&#10;&#10;Pot ser que el contingut generat per IA no sigui correcte.">
            <a:extLst>
              <a:ext uri="{FF2B5EF4-FFF2-40B4-BE49-F238E27FC236}">
                <a16:creationId xmlns:a16="http://schemas.microsoft.com/office/drawing/2014/main" id="{104571BF-5BAB-F6B4-FADC-868216A94D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012" y="1714501"/>
            <a:ext cx="8344830" cy="5018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032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03D429-0790-28FF-4D0E-FCFD54134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6791840" cy="1481328"/>
          </a:xfrm>
        </p:spPr>
        <p:txBody>
          <a:bodyPr anchor="b">
            <a:normAutofit fontScale="90000"/>
          </a:bodyPr>
          <a:lstStyle/>
          <a:p>
            <a:r>
              <a:rPr lang="en-GB" sz="5400"/>
              <a:t>Conclusion and Next Steps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762040-9254-2FCA-5342-F274ECBFDD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5" y="2660904"/>
            <a:ext cx="11156511" cy="3547872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GB" sz="2500" b="1" err="1">
                <a:ea typeface="+mn-lt"/>
                <a:cs typeface="+mn-lt"/>
              </a:rPr>
              <a:t>ResNet</a:t>
            </a:r>
            <a:endParaRPr lang="en-GB" sz="2500">
              <a:ea typeface="+mn-lt"/>
              <a:cs typeface="+mn-lt"/>
            </a:endParaRPr>
          </a:p>
          <a:p>
            <a:pPr lvl="1"/>
            <a:r>
              <a:rPr lang="en-GB" sz="2500">
                <a:ea typeface="+mn-lt"/>
                <a:cs typeface="+mn-lt"/>
              </a:rPr>
              <a:t>Binary outcome the accuracy was poor</a:t>
            </a:r>
          </a:p>
          <a:p>
            <a:pPr lvl="1"/>
            <a:r>
              <a:rPr lang="en-GB" sz="2500">
                <a:ea typeface="+mn-lt"/>
                <a:cs typeface="+mn-lt"/>
              </a:rPr>
              <a:t>This model served as baseline comparison</a:t>
            </a:r>
          </a:p>
          <a:p>
            <a:pPr lvl="1"/>
            <a:r>
              <a:rPr lang="en-GB" sz="2500">
                <a:ea typeface="+mn-lt"/>
                <a:cs typeface="+mn-lt"/>
              </a:rPr>
              <a:t>Try again without </a:t>
            </a:r>
            <a:r>
              <a:rPr lang="en-GB" sz="2500" err="1">
                <a:ea typeface="+mn-lt"/>
                <a:cs typeface="+mn-lt"/>
              </a:rPr>
              <a:t>Macenko</a:t>
            </a:r>
            <a:r>
              <a:rPr lang="en-GB" sz="2500">
                <a:ea typeface="+mn-lt"/>
                <a:cs typeface="+mn-lt"/>
              </a:rPr>
              <a:t> to measure improvement, if any</a:t>
            </a:r>
          </a:p>
          <a:p>
            <a:r>
              <a:rPr lang="en-GB" sz="2500" b="1" err="1">
                <a:ea typeface="+mn-lt"/>
                <a:cs typeface="+mn-lt"/>
              </a:rPr>
              <a:t>ConvNeXT</a:t>
            </a:r>
            <a:r>
              <a:rPr lang="en-GB" sz="2500" b="1">
                <a:ea typeface="+mn-lt"/>
                <a:cs typeface="+mn-lt"/>
              </a:rPr>
              <a:t> </a:t>
            </a:r>
          </a:p>
          <a:p>
            <a:pPr lvl="1"/>
            <a:r>
              <a:rPr lang="es-ES" sz="2100" err="1">
                <a:ea typeface="+mn-lt"/>
                <a:cs typeface="+mn-lt"/>
              </a:rPr>
              <a:t>Move</a:t>
            </a:r>
            <a:r>
              <a:rPr lang="es-ES" sz="2100">
                <a:ea typeface="+mn-lt"/>
                <a:cs typeface="+mn-lt"/>
              </a:rPr>
              <a:t> </a:t>
            </a:r>
            <a:r>
              <a:rPr lang="es-ES" sz="2100" err="1">
                <a:ea typeface="+mn-lt"/>
                <a:cs typeface="+mn-lt"/>
              </a:rPr>
              <a:t>to</a:t>
            </a:r>
            <a:r>
              <a:rPr lang="es-ES" sz="2100">
                <a:ea typeface="+mn-lt"/>
                <a:cs typeface="+mn-lt"/>
              </a:rPr>
              <a:t> bag-</a:t>
            </a:r>
            <a:r>
              <a:rPr lang="es-ES" sz="2100" err="1">
                <a:ea typeface="+mn-lt"/>
                <a:cs typeface="+mn-lt"/>
              </a:rPr>
              <a:t>level</a:t>
            </a:r>
            <a:r>
              <a:rPr lang="es-ES" sz="2100">
                <a:ea typeface="+mn-lt"/>
                <a:cs typeface="+mn-lt"/>
              </a:rPr>
              <a:t> </a:t>
            </a:r>
            <a:r>
              <a:rPr lang="es-ES" sz="2100" err="1">
                <a:ea typeface="+mn-lt"/>
                <a:cs typeface="+mn-lt"/>
              </a:rPr>
              <a:t>learning</a:t>
            </a:r>
          </a:p>
          <a:p>
            <a:pPr lvl="1"/>
            <a:r>
              <a:rPr lang="en-US" sz="2100">
                <a:ea typeface="+mn-lt"/>
                <a:cs typeface="+mn-lt"/>
              </a:rPr>
              <a:t>Try new image transformations and pre-processing methods</a:t>
            </a:r>
          </a:p>
          <a:p>
            <a:pPr lvl="1"/>
            <a:r>
              <a:rPr lang="en-US" sz="2100">
                <a:ea typeface="+mn-lt"/>
                <a:cs typeface="+mn-lt"/>
              </a:rPr>
              <a:t>Test on new datasets to evaluate generalizability</a:t>
            </a:r>
            <a:endParaRPr lang="en-GB" sz="2100" b="1">
              <a:ea typeface="+mn-lt"/>
              <a:cs typeface="+mn-lt"/>
            </a:endParaRPr>
          </a:p>
          <a:p>
            <a:pPr marL="0" indent="0">
              <a:buNone/>
            </a:pPr>
            <a:endParaRPr lang="en-GB" sz="2500" b="1">
              <a:ea typeface="+mn-lt"/>
              <a:cs typeface="+mn-lt"/>
            </a:endParaRPr>
          </a:p>
          <a:p>
            <a:pPr marL="0" indent="0">
              <a:buNone/>
            </a:pPr>
            <a:endParaRPr lang="en-GB" sz="2500"/>
          </a:p>
        </p:txBody>
      </p:sp>
    </p:spTree>
    <p:extLst>
      <p:ext uri="{BB962C8B-B14F-4D97-AF65-F5344CB8AC3E}">
        <p14:creationId xmlns:p14="http://schemas.microsoft.com/office/powerpoint/2010/main" val="27366036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77B5B20-8EEE-4CA5-8810-762F1A682DA9}">
  <we:reference id="ec75510c-17ee-4a9f-ace0-62bbcae56d7a" version="1.0.0.0" store="excatalog" storeType="excatalog"/>
  <we:alternateReferences>
    <we:reference id="WA200000094" version="1.0.0.0" store="ca-e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</TotalTime>
  <Words>802</Words>
  <Application>Microsoft Macintosh PowerPoint</Application>
  <PresentationFormat>Widescreen</PresentationFormat>
  <Paragraphs>121</Paragraphs>
  <Slides>22</Slides>
  <Notes>3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Verdana</vt:lpstr>
      <vt:lpstr>Office Theme</vt:lpstr>
      <vt:lpstr>Seizure Classification with  Deep Learning</vt:lpstr>
      <vt:lpstr>Background and Motivations</vt:lpstr>
      <vt:lpstr>Dataset</vt:lpstr>
      <vt:lpstr>Goals</vt:lpstr>
      <vt:lpstr>Methodology Selection -- ResNet </vt:lpstr>
      <vt:lpstr>Methodology Selection -- ConvNeXT</vt:lpstr>
      <vt:lpstr>Methodology Overview</vt:lpstr>
      <vt:lpstr>Method 1 Steps Overview</vt:lpstr>
      <vt:lpstr>Method 1 Details – Steps 1 + 2</vt:lpstr>
      <vt:lpstr>Method 1 Details – Step 3 </vt:lpstr>
      <vt:lpstr>Method 2 ConvNeXt Steps Overview</vt:lpstr>
      <vt:lpstr>Method 2 ConvNeXt Steps Overview</vt:lpstr>
      <vt:lpstr>Experimental Design: Evaluation Metrics</vt:lpstr>
      <vt:lpstr>Results Overview – Patch and Patient Level</vt:lpstr>
      <vt:lpstr>Learning Curves</vt:lpstr>
      <vt:lpstr>Patch Level - Confusion Matrix</vt:lpstr>
      <vt:lpstr>Patch Level – Grad-CAM Images</vt:lpstr>
      <vt:lpstr>Method 1 ResNet Patient Level Results – ROC + PR</vt:lpstr>
      <vt:lpstr>Method 2 ConvNeXt Patient Level Results – ROC + PR </vt:lpstr>
      <vt:lpstr>Patient Level – Confusion Matrix</vt:lpstr>
      <vt:lpstr>Patient Level – Clinical Feature Importance</vt:lpstr>
      <vt:lpstr>Conclusion and 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Enoch Shin</dc:creator>
  <cp:lastModifiedBy>Enoch Shin</cp:lastModifiedBy>
  <cp:revision>41</cp:revision>
  <dcterms:created xsi:type="dcterms:W3CDTF">2026-02-10T15:08:16Z</dcterms:created>
  <dcterms:modified xsi:type="dcterms:W3CDTF">2026-03-12T17:27:44Z</dcterms:modified>
</cp:coreProperties>
</file>